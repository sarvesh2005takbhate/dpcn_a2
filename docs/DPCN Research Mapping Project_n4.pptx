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6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is fully independent — data collection, statistics and dashboard. The professor collects all outputs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groups cover the seven oldest, largest IITs — the highest OpenAlex coverage, best ORCID adoption, cleanest ROR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IITs have thinner OpenAlex records — cross-check against the institute website for faculty who joined before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CSIR labs are domain-specialised — each group's publication output will naturally cluster around one field. This makes the domain split (Engineering vs Science) easy to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912495"/>
            <a:ext cx="355600" cy="31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5400" y="812800"/>
            <a:ext cx="307869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3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PROJECT ·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1875790"/>
            <a:ext cx="1088339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0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Assignments</a:t>
            </a:r>
            <a:endParaRPr lang="en-US" sz="50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50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Work Plan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12800" y="3437890"/>
            <a:ext cx="719455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A8B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independent groups · Each group collects data, runs statistics and builds their own dashboard · Science &amp; Engineering publications 2016–2026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A8B8CC"/>
                </a:solidFill>
                <a:latin typeface="Georgia" pitchFamily="34" charset="0"/>
              </a:rPr>
              <a:t>Instructor: Chittaranjan Hens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298440"/>
            <a:ext cx="14404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12800" y="5831840"/>
            <a:ext cx="14404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Groups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08818" y="5298440"/>
            <a:ext cx="13977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608818" y="5831840"/>
            <a:ext cx="13977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Covered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62133" y="5298440"/>
            <a:ext cx="11688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62133" y="5831840"/>
            <a:ext cx="1168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per Group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group does exactly four things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20"/>
            <a:ext cx="3523774" cy="3048000"/>
          </a:xfrm>
          <a:custGeom>
            <a:avLst/>
            <a:gdLst/>
            <a:ahLst/>
            <a:cxnLst/>
            <a:rect l="l" t="t" r="r" b="b"/>
            <a:pathLst>
              <a:path w="3523774" h="3048000">
                <a:moveTo>
                  <a:pt x="101600" y="0"/>
                </a:moveTo>
                <a:lnTo>
                  <a:pt x="3523774" y="0"/>
                </a:lnTo>
                <a:lnTo>
                  <a:pt x="3523774" y="3048000"/>
                </a:lnTo>
                <a:lnTo>
                  <a:pt x="101600" y="304800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800" y="1671320"/>
            <a:ext cx="3523774" cy="3048000"/>
          </a:xfrm>
          <a:custGeom>
            <a:avLst/>
            <a:gdLst/>
            <a:ahLst/>
            <a:cxnLst/>
            <a:rect l="l" t="t" r="r" b="b"/>
            <a:pathLst>
              <a:path w="3523774" h="3048000">
                <a:moveTo>
                  <a:pt x="3517424" y="0"/>
                </a:moveTo>
                <a:lnTo>
                  <a:pt x="3523774" y="0"/>
                </a:lnTo>
                <a:lnTo>
                  <a:pt x="3523774" y="3048000"/>
                </a:lnTo>
                <a:lnTo>
                  <a:pt x="3517424" y="3048000"/>
                </a:lnTo>
                <a:lnTo>
                  <a:pt x="3517424" y="0"/>
                </a:lnTo>
                <a:close/>
              </a:path>
            </a:pathLst>
          </a:custGeom>
          <a:solidFill>
            <a:srgbClr val="E8EA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441337" y="1976120"/>
            <a:ext cx="312341" cy="57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3"/>
              </a:lnSpc>
              <a:buNone/>
            </a:pPr>
            <a:r>
              <a:rPr lang="en-US" sz="3088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88" dirty="0"/>
          </a:p>
        </p:txBody>
      </p:sp>
      <p:sp>
        <p:nvSpPr>
          <p:cNvPr id="6" name="Text 4"/>
          <p:cNvSpPr/>
          <p:nvPr/>
        </p:nvSpPr>
        <p:spPr>
          <a:xfrm>
            <a:off x="1847374" y="2674541"/>
            <a:ext cx="1449546" cy="235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4"/>
              </a:lnSpc>
              <a:buNone/>
            </a:pPr>
            <a:r>
              <a:rPr lang="en-US" sz="1395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395" dirty="0"/>
          </a:p>
        </p:txBody>
      </p:sp>
      <p:sp>
        <p:nvSpPr>
          <p:cNvPr id="7" name="Text 5"/>
          <p:cNvSpPr/>
          <p:nvPr/>
        </p:nvSpPr>
        <p:spPr>
          <a:xfrm>
            <a:off x="1021640" y="3037522"/>
            <a:ext cx="3101015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42"/>
              </a:lnSpc>
              <a:buNone/>
            </a:pPr>
            <a:r>
              <a:rPr lang="en-US" sz="964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all faculty publications (2016–2026) for your 2–3 assigned institutions using OpenAlex, IRINS or Scopus</a:t>
            </a:r>
            <a:endParaRPr lang="en-US" sz="964" dirty="0"/>
          </a:p>
        </p:txBody>
      </p:sp>
      <p:sp>
        <p:nvSpPr>
          <p:cNvPr id="8" name="Text 6"/>
          <p:cNvSpPr/>
          <p:nvPr/>
        </p:nvSpPr>
        <p:spPr>
          <a:xfrm>
            <a:off x="1844437" y="3751500"/>
            <a:ext cx="1506220" cy="153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Faculty list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1844437" y="3930015"/>
            <a:ext cx="1506220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Papers + DOIs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1844437" y="4108450"/>
            <a:ext cx="1506220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Journal quartile (Q1/Q2/Q3)</a:t>
            </a:r>
            <a:endParaRPr lang="en-US" sz="731" dirty="0"/>
          </a:p>
        </p:txBody>
      </p:sp>
      <p:sp>
        <p:nvSpPr>
          <p:cNvPr id="11" name="Text 9"/>
          <p:cNvSpPr/>
          <p:nvPr/>
        </p:nvSpPr>
        <p:spPr>
          <a:xfrm>
            <a:off x="1844437" y="4286885"/>
            <a:ext cx="1506220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Conference rank (CORE A*/A/B)</a:t>
            </a:r>
            <a:endParaRPr lang="en-US" sz="731" dirty="0"/>
          </a:p>
        </p:txBody>
      </p:sp>
      <p:sp>
        <p:nvSpPr>
          <p:cNvPr id="12" name="Shape 10"/>
          <p:cNvSpPr/>
          <p:nvPr/>
        </p:nvSpPr>
        <p:spPr>
          <a:xfrm>
            <a:off x="4336574" y="1671320"/>
            <a:ext cx="3523853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57252" y="1671320"/>
            <a:ext cx="0" cy="3048000"/>
          </a:xfrm>
          <a:prstGeom prst="line">
            <a:avLst/>
          </a:prstGeom>
          <a:noFill/>
          <a:ln w="6350">
            <a:solidFill>
              <a:srgbClr val="E8EA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65190" y="1976120"/>
            <a:ext cx="312341" cy="57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3"/>
              </a:lnSpc>
              <a:buNone/>
            </a:pPr>
            <a:r>
              <a:rPr lang="en-US" sz="3088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88" dirty="0"/>
          </a:p>
        </p:txBody>
      </p:sp>
      <p:sp>
        <p:nvSpPr>
          <p:cNvPr id="15" name="Text 13"/>
          <p:cNvSpPr/>
          <p:nvPr/>
        </p:nvSpPr>
        <p:spPr>
          <a:xfrm>
            <a:off x="5654199" y="2674541"/>
            <a:ext cx="883523" cy="235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74"/>
              </a:lnSpc>
              <a:buNone/>
            </a:pPr>
            <a:r>
              <a:rPr lang="en-US" sz="1395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395" dirty="0"/>
          </a:p>
        </p:txBody>
      </p:sp>
      <p:sp>
        <p:nvSpPr>
          <p:cNvPr id="16" name="Text 14"/>
          <p:cNvSpPr/>
          <p:nvPr/>
        </p:nvSpPr>
        <p:spPr>
          <a:xfrm>
            <a:off x="4545412" y="3037522"/>
            <a:ext cx="3101096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08"/>
              </a:lnSpc>
              <a:buNone/>
            </a:pPr>
            <a:r>
              <a:rPr lang="en-US" sz="1193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the dataset and compute key metrics at faculty, department and institution level</a:t>
            </a:r>
            <a:endParaRPr lang="en-US" sz="1193" dirty="0"/>
          </a:p>
        </p:txBody>
      </p:sp>
      <p:sp>
        <p:nvSpPr>
          <p:cNvPr id="17" name="Text 15"/>
          <p:cNvSpPr/>
          <p:nvPr/>
        </p:nvSpPr>
        <p:spPr>
          <a:xfrm>
            <a:off x="5556567" y="3751500"/>
            <a:ext cx="1129506" cy="153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7A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Papers per year (trend)</a:t>
            </a:r>
            <a:endParaRPr lang="en-US" sz="731" dirty="0"/>
          </a:p>
        </p:txBody>
      </p:sp>
      <p:sp>
        <p:nvSpPr>
          <p:cNvPr id="18" name="Text 16"/>
          <p:cNvSpPr/>
          <p:nvPr/>
        </p:nvSpPr>
        <p:spPr>
          <a:xfrm>
            <a:off x="5556567" y="3930015"/>
            <a:ext cx="1129506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7A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Q1 / Q2 / Q3 share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556567" y="4108450"/>
            <a:ext cx="1129506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7A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h-index distribution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56567" y="4286885"/>
            <a:ext cx="1129506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7A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Citation counts</a:t>
            </a:r>
            <a:endParaRPr lang="en-US" sz="731" dirty="0"/>
          </a:p>
        </p:txBody>
      </p:sp>
      <p:sp>
        <p:nvSpPr>
          <p:cNvPr id="21" name="Shape 19"/>
          <p:cNvSpPr/>
          <p:nvPr/>
        </p:nvSpPr>
        <p:spPr>
          <a:xfrm>
            <a:off x="7860427" y="1671320"/>
            <a:ext cx="3518773" cy="3048000"/>
          </a:xfrm>
          <a:custGeom>
            <a:avLst/>
            <a:gdLst/>
            <a:ahLst/>
            <a:cxnLst/>
            <a:rect l="l" t="t" r="r" b="b"/>
            <a:pathLst>
              <a:path w="3518773" h="3048000">
                <a:moveTo>
                  <a:pt x="0" y="0"/>
                </a:moveTo>
                <a:lnTo>
                  <a:pt x="3417173" y="0"/>
                </a:lnTo>
                <a:arcTo wR="101600" hR="101600" stAng="16200000" swAng="5400000"/>
                <a:lnTo>
                  <a:pt x="3518773" y="2946400"/>
                </a:lnTo>
                <a:arcTo wR="101600" hR="101600" stAng="0" swAng="5400000"/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475788" y="1976120"/>
            <a:ext cx="338852" cy="62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772366" y="2731532"/>
            <a:ext cx="1694894" cy="257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70"/>
              </a:lnSpc>
              <a:buNone/>
            </a:pPr>
            <a:r>
              <a:rPr lang="en-US" sz="1558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Dashboard</a:t>
            </a:r>
            <a:endParaRPr lang="en-US" sz="1558" dirty="0"/>
          </a:p>
        </p:txBody>
      </p:sp>
      <p:sp>
        <p:nvSpPr>
          <p:cNvPr id="24" name="Text 22"/>
          <p:cNvSpPr/>
          <p:nvPr/>
        </p:nvSpPr>
        <p:spPr>
          <a:xfrm>
            <a:off x="8069266" y="3116500"/>
            <a:ext cx="3101096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32"/>
              </a:lnSpc>
              <a:buNone/>
            </a:pPr>
            <a:r>
              <a:rPr lang="en-US" sz="1020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interactive dashboard showing all results for your assigned institutions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937228" y="3682365"/>
            <a:ext cx="1415891" cy="17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3"/>
              </a:lnSpc>
              <a:buNone/>
            </a:pPr>
            <a:r>
              <a:rPr lang="en-US" sz="838" dirty="0">
                <a:solidFill>
                  <a:srgbClr val="D46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Publication trend chart</a:t>
            </a:r>
            <a:endParaRPr lang="en-US" sz="838" dirty="0"/>
          </a:p>
        </p:txBody>
      </p:sp>
      <p:sp>
        <p:nvSpPr>
          <p:cNvPr id="26" name="Text 24"/>
          <p:cNvSpPr/>
          <p:nvPr/>
        </p:nvSpPr>
        <p:spPr>
          <a:xfrm>
            <a:off x="8937228" y="3878104"/>
            <a:ext cx="1415891" cy="17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3"/>
              </a:lnSpc>
              <a:buNone/>
            </a:pPr>
            <a:r>
              <a:rPr lang="en-US" sz="838" dirty="0">
                <a:solidFill>
                  <a:srgbClr val="D46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Quartile distribution</a:t>
            </a:r>
            <a:endParaRPr lang="en-US" sz="838" dirty="0"/>
          </a:p>
        </p:txBody>
      </p:sp>
      <p:sp>
        <p:nvSpPr>
          <p:cNvPr id="27" name="Text 25"/>
          <p:cNvSpPr/>
          <p:nvPr/>
        </p:nvSpPr>
        <p:spPr>
          <a:xfrm>
            <a:off x="8937228" y="4073843"/>
            <a:ext cx="1415891" cy="17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3"/>
              </a:lnSpc>
              <a:buNone/>
            </a:pPr>
            <a:r>
              <a:rPr lang="en-US" sz="838" dirty="0">
                <a:solidFill>
                  <a:srgbClr val="D46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Faculty performance table</a:t>
            </a:r>
            <a:endParaRPr lang="en-US" sz="838" dirty="0"/>
          </a:p>
        </p:txBody>
      </p:sp>
      <p:sp>
        <p:nvSpPr>
          <p:cNvPr id="28" name="Text 26"/>
          <p:cNvSpPr/>
          <p:nvPr/>
        </p:nvSpPr>
        <p:spPr>
          <a:xfrm>
            <a:off x="8937228" y="4269581"/>
            <a:ext cx="1415891" cy="17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3"/>
              </a:lnSpc>
              <a:buNone/>
            </a:pPr>
            <a:r>
              <a:rPr lang="en-US" sz="838" dirty="0">
                <a:solidFill>
                  <a:srgbClr val="D46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 journals</a:t>
            </a:r>
            <a:endParaRPr lang="en-US" sz="838" dirty="0"/>
          </a:p>
        </p:txBody>
      </p:sp>
      <p:sp>
        <p:nvSpPr>
          <p:cNvPr id="29" name="Shape 27"/>
          <p:cNvSpPr/>
          <p:nvPr/>
        </p:nvSpPr>
        <p:spPr>
          <a:xfrm>
            <a:off x="812800" y="5074920"/>
            <a:ext cx="10566400" cy="767080"/>
          </a:xfrm>
          <a:prstGeom prst="roundRect">
            <a:avLst>
              <a:gd name="adj" fmla="val 9934"/>
            </a:avLst>
          </a:prstGeom>
          <a:solidFill>
            <a:srgbClr val="0F1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66800" y="5227320"/>
            <a:ext cx="10360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coordination required between groups.</a:t>
            </a:r>
            <a:r>
              <a:rPr lang="en-US" sz="130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group works fully independently. The professor collects all dashboards and data at the end. </a:t>
            </a: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If two-three groups want to work please inform ASAP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2800" y="6238241"/>
            <a:ext cx="14907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</a:t>
            </a:r>
            <a:endParaRPr lang="en-US" sz="12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CE1F887D-1BB2-115A-289F-920022BBACF0}"/>
              </a:ext>
            </a:extLst>
          </p:cNvPr>
          <p:cNvSpPr/>
          <p:nvPr/>
        </p:nvSpPr>
        <p:spPr>
          <a:xfrm>
            <a:off x="1834070" y="4464050"/>
            <a:ext cx="1506220" cy="153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Check the last page</a:t>
            </a:r>
            <a:endParaRPr lang="en-US" sz="73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606713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Assignments — Groups 1 to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585484" y="838200"/>
            <a:ext cx="184752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large IITs · 2 per group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128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8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906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5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955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90600" y="2016761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90600" y="2016761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17600" y="2105661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Bombay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7600" y="232664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· Maharashtra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90600" y="2646680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90600" y="2646680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7600" y="2735580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Delhi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7600" y="295656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925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4925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703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752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752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70300" y="2016761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70300" y="2016761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97300" y="2105661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Madras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7300" y="232664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· Tamil Nadu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70300" y="2646680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70300" y="2646680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97300" y="2735580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Kanpur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7300" y="295656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Kanpur · Uttar Pradesh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722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500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549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6549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0000" y="2016761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50000" y="2016761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77000" y="2105661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Kharagpur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77000" y="232664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Kharagpur · West Bengal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50000" y="2646680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50000" y="2646680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77000" y="2735580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Roorkee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77000" y="295656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Roorkee · Uttarakhand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8519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8519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0297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3346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3346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029700" y="2016761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029700" y="2016761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156700" y="2105661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Guwahati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56700" y="232664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Guwahati · Assam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29700" y="2646680"/>
            <a:ext cx="2171700" cy="541020"/>
          </a:xfrm>
          <a:prstGeom prst="roundRect">
            <a:avLst>
              <a:gd name="adj" fmla="val 9390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029700" y="2646680"/>
            <a:ext cx="2171700" cy="541020"/>
          </a:xfrm>
          <a:custGeom>
            <a:avLst/>
            <a:gdLst/>
            <a:ahLst/>
            <a:cxnLst/>
            <a:rect l="l" t="t" r="r" b="b"/>
            <a:pathLst>
              <a:path w="2171700" h="541020">
                <a:moveTo>
                  <a:pt x="50800" y="541020"/>
                </a:moveTo>
                <a:lnTo>
                  <a:pt x="50800" y="54102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90220"/>
                </a:lnTo>
                <a:arcTo wR="25400" hR="508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9156700" y="2735580"/>
            <a:ext cx="200139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Hyderabad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56700" y="2956561"/>
            <a:ext cx="200139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 · Telangana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12800" y="6256020"/>
            <a:ext cx="25993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1–4 of 30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6121499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Assignments — Groups 5 to 8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725263" y="838200"/>
            <a:ext cx="17047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IITs · 3–4 per group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128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8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906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5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955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5200" y="1991361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5200" y="1991361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79500" y="2054861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Gandhinagar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9500" y="2232661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65200" y="248412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65200" y="248412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79500" y="254762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Jodhpur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9500" y="272542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65200" y="297688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65200" y="297688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79500" y="304038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Patna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9500" y="321818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Bihar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925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925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703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9752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9752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44900" y="1991361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44900" y="1991361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59200" y="2054861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Bhubaneswar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59200" y="2232661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44900" y="248412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44900" y="248412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759200" y="254762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Indore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59200" y="272542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44900" y="297688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44900" y="297688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59200" y="304038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Mandi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59200" y="321818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Himachal Pradesh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722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722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500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6549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6549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4600" y="1991361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24600" y="1991361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38900" y="2054861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(BHU) Varanasi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38900" y="2232661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 Pradesh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324600" y="248412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24600" y="248412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8900" y="254762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Tirupati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38900" y="272542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Andhra Pradesh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24600" y="297688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24600" y="297688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438900" y="304038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Palakkad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38900" y="321818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851900" y="1305561"/>
            <a:ext cx="2527300" cy="4536440"/>
          </a:xfrm>
          <a:prstGeom prst="roundRect">
            <a:avLst>
              <a:gd name="adj" fmla="val 35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851900" y="1305561"/>
            <a:ext cx="2527300" cy="558800"/>
          </a:xfrm>
          <a:custGeom>
            <a:avLst/>
            <a:gdLst/>
            <a:ahLst/>
            <a:cxnLst/>
            <a:rect l="l" t="t" r="r" b="b"/>
            <a:pathLst>
              <a:path w="2527300" h="558800">
                <a:moveTo>
                  <a:pt x="0" y="88900"/>
                </a:moveTo>
                <a:arcTo wR="88900" hR="88900" stAng="10800000" swAng="5400000"/>
                <a:lnTo>
                  <a:pt x="2438400" y="0"/>
                </a:lnTo>
                <a:arcTo wR="88900" hR="88900" stAng="16200000" swAng="5400000"/>
                <a:lnTo>
                  <a:pt x="2527300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9029700" y="1432561"/>
            <a:ext cx="2541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9334659" y="1442720"/>
            <a:ext cx="68722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9334659" y="1567180"/>
            <a:ext cx="687229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Cluster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004300" y="1991361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9004300" y="1991361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118600" y="2054861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Dharwad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118600" y="2232661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004300" y="248412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9004300" y="248412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9118600" y="254762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Bhilai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118600" y="272542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Chhattisgarh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004300" y="2976880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9004300" y="2976880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9118600" y="3040380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Goa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118600" y="3218180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9004300" y="3469641"/>
            <a:ext cx="2222500" cy="429260"/>
          </a:xfrm>
          <a:prstGeom prst="roundRect">
            <a:avLst>
              <a:gd name="adj" fmla="val 11834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9004300" y="3469641"/>
            <a:ext cx="2222500" cy="429260"/>
          </a:xfrm>
          <a:custGeom>
            <a:avLst/>
            <a:gdLst/>
            <a:ahLst/>
            <a:cxnLst/>
            <a:rect l="l" t="t" r="r" b="b"/>
            <a:pathLst>
              <a:path w="2222500" h="429260">
                <a:moveTo>
                  <a:pt x="50800" y="429260"/>
                </a:moveTo>
                <a:lnTo>
                  <a:pt x="50800" y="4292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78460"/>
                </a:lnTo>
                <a:arcTo wR="25400" hR="50800" stAng="10800000" swAng="-5400000"/>
                <a:close/>
              </a:path>
            </a:pathLst>
          </a:custGeom>
          <a:solidFill>
            <a:srgbClr val="B8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9118600" y="3533141"/>
            <a:ext cx="207987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IIT Jammu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118600" y="3710941"/>
            <a:ext cx="2079879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Jammu &amp; Kashmir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12800" y="6256021"/>
            <a:ext cx="25993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5–8 of 30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IIITs &amp; NITs — Groups 9 to 15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94791"/>
            <a:ext cx="5219700" cy="0"/>
          </a:xfrm>
          <a:prstGeom prst="line">
            <a:avLst/>
          </a:prstGeom>
          <a:noFill/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280161"/>
            <a:ext cx="5376291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65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2800" y="1602739"/>
            <a:ext cx="5219700" cy="1345327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2800" y="1602739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52500" y="1691639"/>
            <a:ext cx="20327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3879" y="1722757"/>
            <a:ext cx="534988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93879" y="1838325"/>
            <a:ext cx="5349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IIITs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39800" y="2202182"/>
            <a:ext cx="4965700" cy="296783"/>
          </a:xfrm>
          <a:prstGeom prst="roundRect">
            <a:avLst>
              <a:gd name="adj" fmla="val 12838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9800" y="2202182"/>
            <a:ext cx="4965700" cy="296783"/>
          </a:xfrm>
          <a:custGeom>
            <a:avLst/>
            <a:gdLst/>
            <a:ahLst/>
            <a:cxnLst/>
            <a:rect l="l" t="t" r="r" b="b"/>
            <a:pathLst>
              <a:path w="4965700" h="296783">
                <a:moveTo>
                  <a:pt x="38100" y="296783"/>
                </a:moveTo>
                <a:lnTo>
                  <a:pt x="38100" y="296783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58683"/>
                </a:lnTo>
                <a:arcTo wR="19050" hR="38100" stAng="10800000" swAng="-5400000"/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31240" y="2252982"/>
            <a:ext cx="4942002" cy="138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1"/>
              </a:lnSpc>
              <a:buNone/>
            </a:pPr>
            <a:r>
              <a:rPr lang="en-US" sz="658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Hyderabad</a:t>
            </a:r>
            <a:endParaRPr lang="en-US" sz="658" dirty="0"/>
          </a:p>
        </p:txBody>
      </p:sp>
      <p:sp>
        <p:nvSpPr>
          <p:cNvPr id="13" name="Text 11"/>
          <p:cNvSpPr/>
          <p:nvPr/>
        </p:nvSpPr>
        <p:spPr>
          <a:xfrm>
            <a:off x="1031240" y="2366327"/>
            <a:ext cx="4942002" cy="10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82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</a:t>
            </a:r>
            <a:endParaRPr lang="en-US" sz="482" dirty="0"/>
          </a:p>
        </p:txBody>
      </p:sp>
      <p:sp>
        <p:nvSpPr>
          <p:cNvPr id="14" name="Shape 12"/>
          <p:cNvSpPr/>
          <p:nvPr/>
        </p:nvSpPr>
        <p:spPr>
          <a:xfrm>
            <a:off x="939800" y="2549764"/>
            <a:ext cx="4965700" cy="296704"/>
          </a:xfrm>
          <a:prstGeom prst="roundRect">
            <a:avLst>
              <a:gd name="adj" fmla="val 12841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39800" y="2549764"/>
            <a:ext cx="4965700" cy="296704"/>
          </a:xfrm>
          <a:custGeom>
            <a:avLst/>
            <a:gdLst/>
            <a:ahLst/>
            <a:cxnLst/>
            <a:rect l="l" t="t" r="r" b="b"/>
            <a:pathLst>
              <a:path w="4965700" h="296704">
                <a:moveTo>
                  <a:pt x="38100" y="296704"/>
                </a:moveTo>
                <a:lnTo>
                  <a:pt x="38100" y="296704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58604"/>
                </a:lnTo>
                <a:arcTo wR="19050" hR="38100" stAng="10800000" swAng="-5400000"/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31240" y="2600564"/>
            <a:ext cx="4942002" cy="13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1"/>
              </a:lnSpc>
              <a:buNone/>
            </a:pPr>
            <a:r>
              <a:rPr lang="en-US" sz="658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Delhi</a:t>
            </a:r>
            <a:endParaRPr lang="en-US" sz="658" dirty="0"/>
          </a:p>
        </p:txBody>
      </p:sp>
      <p:sp>
        <p:nvSpPr>
          <p:cNvPr id="17" name="Text 15"/>
          <p:cNvSpPr/>
          <p:nvPr/>
        </p:nvSpPr>
        <p:spPr>
          <a:xfrm>
            <a:off x="1031240" y="2713831"/>
            <a:ext cx="4942002" cy="10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82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482" dirty="0"/>
          </a:p>
        </p:txBody>
      </p:sp>
      <p:sp>
        <p:nvSpPr>
          <p:cNvPr id="18" name="Shape 16"/>
          <p:cNvSpPr/>
          <p:nvPr/>
        </p:nvSpPr>
        <p:spPr>
          <a:xfrm>
            <a:off x="812800" y="3049668"/>
            <a:ext cx="5219700" cy="1345406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2800" y="3049668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1A6A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2500" y="3138568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6359" y="3169682"/>
            <a:ext cx="34282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46359" y="3285254"/>
            <a:ext cx="3428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9800" y="3649107"/>
            <a:ext cx="4965700" cy="180975"/>
          </a:xfrm>
          <a:prstGeom prst="roundRect">
            <a:avLst>
              <a:gd name="adj" fmla="val 2105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39800" y="3649107"/>
            <a:ext cx="4965700" cy="180975"/>
          </a:xfrm>
          <a:custGeom>
            <a:avLst/>
            <a:gdLst/>
            <a:ahLst/>
            <a:cxnLst/>
            <a:rect l="l" t="t" r="r" b="b"/>
            <a:pathLst>
              <a:path w="4965700" h="180975">
                <a:moveTo>
                  <a:pt x="38100" y="180975"/>
                </a:moveTo>
                <a:lnTo>
                  <a:pt x="38100" y="180975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875"/>
                </a:lnTo>
                <a:arcTo wR="19050" hR="38100" stAng="10800000" swAng="-5400000"/>
                <a:close/>
              </a:path>
            </a:pathLst>
          </a:custGeom>
          <a:solidFill>
            <a:srgbClr val="1A6A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31240" y="3699907"/>
            <a:ext cx="4942002" cy="7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Allahabad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1031240" y="3746026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 Pradesh</a:t>
            </a:r>
            <a:endParaRPr lang="en-US" sz="400" dirty="0"/>
          </a:p>
        </p:txBody>
      </p:sp>
      <p:sp>
        <p:nvSpPr>
          <p:cNvPr id="27" name="Shape 25"/>
          <p:cNvSpPr/>
          <p:nvPr/>
        </p:nvSpPr>
        <p:spPr>
          <a:xfrm>
            <a:off x="939800" y="3880882"/>
            <a:ext cx="4965700" cy="180896"/>
          </a:xfrm>
          <a:prstGeom prst="roundRect">
            <a:avLst>
              <a:gd name="adj" fmla="val 21062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39800" y="3880882"/>
            <a:ext cx="4965700" cy="180896"/>
          </a:xfrm>
          <a:custGeom>
            <a:avLst/>
            <a:gdLst/>
            <a:ahLst/>
            <a:cxnLst/>
            <a:rect l="l" t="t" r="r" b="b"/>
            <a:pathLst>
              <a:path w="4965700" h="180896">
                <a:moveTo>
                  <a:pt x="38100" y="180896"/>
                </a:moveTo>
                <a:lnTo>
                  <a:pt x="38100" y="18089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796"/>
                </a:lnTo>
                <a:arcTo wR="19050" hR="38100" stAng="10800000" swAng="-5400000"/>
                <a:close/>
              </a:path>
            </a:pathLst>
          </a:custGeom>
          <a:solidFill>
            <a:srgbClr val="1A6A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31240" y="3931682"/>
            <a:ext cx="494200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ABV-IIITM Gwalior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1031240" y="3977720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</a:t>
            </a:r>
            <a:endParaRPr lang="en-US" sz="400" dirty="0"/>
          </a:p>
        </p:txBody>
      </p:sp>
      <p:sp>
        <p:nvSpPr>
          <p:cNvPr id="31" name="Shape 29"/>
          <p:cNvSpPr/>
          <p:nvPr/>
        </p:nvSpPr>
        <p:spPr>
          <a:xfrm>
            <a:off x="939800" y="4112577"/>
            <a:ext cx="4965700" cy="180896"/>
          </a:xfrm>
          <a:prstGeom prst="roundRect">
            <a:avLst>
              <a:gd name="adj" fmla="val 21062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39800" y="4112577"/>
            <a:ext cx="4965700" cy="180896"/>
          </a:xfrm>
          <a:custGeom>
            <a:avLst/>
            <a:gdLst/>
            <a:ahLst/>
            <a:cxnLst/>
            <a:rect l="l" t="t" r="r" b="b"/>
            <a:pathLst>
              <a:path w="4965700" h="180896">
                <a:moveTo>
                  <a:pt x="38100" y="180896"/>
                </a:moveTo>
                <a:lnTo>
                  <a:pt x="38100" y="18089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796"/>
                </a:lnTo>
                <a:arcTo wR="19050" hR="38100" stAng="10800000" swAng="-5400000"/>
                <a:close/>
              </a:path>
            </a:pathLst>
          </a:custGeom>
          <a:solidFill>
            <a:srgbClr val="1A6A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31240" y="4163377"/>
            <a:ext cx="494200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Bangalore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1031240" y="4209414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</a:t>
            </a:r>
            <a:endParaRPr lang="en-US" sz="400" dirty="0"/>
          </a:p>
        </p:txBody>
      </p:sp>
      <p:sp>
        <p:nvSpPr>
          <p:cNvPr id="35" name="Shape 33"/>
          <p:cNvSpPr/>
          <p:nvPr/>
        </p:nvSpPr>
        <p:spPr>
          <a:xfrm>
            <a:off x="812800" y="4496674"/>
            <a:ext cx="5219700" cy="1345327"/>
          </a:xfrm>
          <a:prstGeom prst="roundRect">
            <a:avLst>
              <a:gd name="adj" fmla="val 56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12800" y="4496674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0D55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52500" y="4585574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46359" y="4616689"/>
            <a:ext cx="34282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346359" y="4732260"/>
            <a:ext cx="3428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39800" y="5096114"/>
            <a:ext cx="4965700" cy="180896"/>
          </a:xfrm>
          <a:prstGeom prst="roundRect">
            <a:avLst>
              <a:gd name="adj" fmla="val 21062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39800" y="5096114"/>
            <a:ext cx="4965700" cy="180896"/>
          </a:xfrm>
          <a:custGeom>
            <a:avLst/>
            <a:gdLst/>
            <a:ahLst/>
            <a:cxnLst/>
            <a:rect l="l" t="t" r="r" b="b"/>
            <a:pathLst>
              <a:path w="4965700" h="180896">
                <a:moveTo>
                  <a:pt x="38100" y="180896"/>
                </a:moveTo>
                <a:lnTo>
                  <a:pt x="38100" y="18089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796"/>
                </a:lnTo>
                <a:arcTo wR="19050" hR="38100" stAng="10800000" swAng="-5400000"/>
                <a:close/>
              </a:path>
            </a:pathLst>
          </a:custGeom>
          <a:solidFill>
            <a:srgbClr val="0D55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031240" y="5146914"/>
            <a:ext cx="494200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PDPM-IIITDM Jabalpur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1031240" y="5192951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</a:t>
            </a:r>
            <a:endParaRPr lang="en-US" sz="400" dirty="0"/>
          </a:p>
        </p:txBody>
      </p:sp>
      <p:sp>
        <p:nvSpPr>
          <p:cNvPr id="44" name="Shape 42"/>
          <p:cNvSpPr/>
          <p:nvPr/>
        </p:nvSpPr>
        <p:spPr>
          <a:xfrm>
            <a:off x="939800" y="5327808"/>
            <a:ext cx="4965700" cy="180896"/>
          </a:xfrm>
          <a:prstGeom prst="roundRect">
            <a:avLst>
              <a:gd name="adj" fmla="val 21062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39800" y="5327808"/>
            <a:ext cx="4965700" cy="180896"/>
          </a:xfrm>
          <a:custGeom>
            <a:avLst/>
            <a:gdLst/>
            <a:ahLst/>
            <a:cxnLst/>
            <a:rect l="l" t="t" r="r" b="b"/>
            <a:pathLst>
              <a:path w="4965700" h="180896">
                <a:moveTo>
                  <a:pt x="38100" y="180896"/>
                </a:moveTo>
                <a:lnTo>
                  <a:pt x="38100" y="18089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796"/>
                </a:lnTo>
                <a:arcTo wR="19050" hR="38100" stAng="10800000" swAng="-5400000"/>
                <a:close/>
              </a:path>
            </a:pathLst>
          </a:custGeom>
          <a:solidFill>
            <a:srgbClr val="0D55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031240" y="5378608"/>
            <a:ext cx="494200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Pune</a:t>
            </a:r>
            <a:endParaRPr lang="en-US" sz="540" dirty="0"/>
          </a:p>
        </p:txBody>
      </p:sp>
      <p:sp>
        <p:nvSpPr>
          <p:cNvPr id="47" name="Text 45"/>
          <p:cNvSpPr/>
          <p:nvPr/>
        </p:nvSpPr>
        <p:spPr>
          <a:xfrm>
            <a:off x="1031240" y="5424646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Maharashtra</a:t>
            </a:r>
            <a:endParaRPr lang="en-US" sz="400" dirty="0"/>
          </a:p>
        </p:txBody>
      </p:sp>
      <p:sp>
        <p:nvSpPr>
          <p:cNvPr id="48" name="Shape 46"/>
          <p:cNvSpPr/>
          <p:nvPr/>
        </p:nvSpPr>
        <p:spPr>
          <a:xfrm>
            <a:off x="939800" y="5559506"/>
            <a:ext cx="4965700" cy="180896"/>
          </a:xfrm>
          <a:prstGeom prst="roundRect">
            <a:avLst>
              <a:gd name="adj" fmla="val 21062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939800" y="5559506"/>
            <a:ext cx="4965700" cy="180896"/>
          </a:xfrm>
          <a:custGeom>
            <a:avLst/>
            <a:gdLst/>
            <a:ahLst/>
            <a:cxnLst/>
            <a:rect l="l" t="t" r="r" b="b"/>
            <a:pathLst>
              <a:path w="4965700" h="180896">
                <a:moveTo>
                  <a:pt x="38100" y="180896"/>
                </a:moveTo>
                <a:lnTo>
                  <a:pt x="38100" y="18089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2796"/>
                </a:lnTo>
                <a:arcTo wR="19050" hR="38100" stAng="10800000" swAng="-5400000"/>
                <a:close/>
              </a:path>
            </a:pathLst>
          </a:custGeom>
          <a:solidFill>
            <a:srgbClr val="0D55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31240" y="5610306"/>
            <a:ext cx="494200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IIIT Kancheepuram</a:t>
            </a:r>
            <a:endParaRPr lang="en-US" sz="540" dirty="0"/>
          </a:p>
        </p:txBody>
      </p:sp>
      <p:sp>
        <p:nvSpPr>
          <p:cNvPr id="51" name="Text 49"/>
          <p:cNvSpPr/>
          <p:nvPr/>
        </p:nvSpPr>
        <p:spPr>
          <a:xfrm>
            <a:off x="1031240" y="5656343"/>
            <a:ext cx="4942002" cy="5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</a:t>
            </a:r>
            <a:endParaRPr lang="en-US" sz="400" dirty="0"/>
          </a:p>
        </p:txBody>
      </p:sp>
      <p:sp>
        <p:nvSpPr>
          <p:cNvPr id="52" name="Shape 50"/>
          <p:cNvSpPr/>
          <p:nvPr/>
        </p:nvSpPr>
        <p:spPr>
          <a:xfrm>
            <a:off x="6159500" y="1494791"/>
            <a:ext cx="5219700" cy="0"/>
          </a:xfrm>
          <a:prstGeom prst="line">
            <a:avLst/>
          </a:prstGeom>
          <a:noFill/>
          <a:ln w="12700">
            <a:solidFill>
              <a:srgbClr val="27A8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159500" y="1280161"/>
            <a:ext cx="5376291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kern="0" spc="65" dirty="0">
                <a:solidFill>
                  <a:srgbClr val="27A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59500" y="1602739"/>
            <a:ext cx="5219700" cy="983615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159500" y="1602739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99200" y="1691639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93059" y="1722757"/>
            <a:ext cx="529749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693059" y="1838325"/>
            <a:ext cx="52974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NITs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86500" y="2202182"/>
            <a:ext cx="4965700" cy="115888"/>
          </a:xfrm>
          <a:prstGeom prst="roundRect">
            <a:avLst>
              <a:gd name="adj" fmla="val 32877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286500" y="2202182"/>
            <a:ext cx="4965700" cy="115888"/>
          </a:xfrm>
          <a:custGeom>
            <a:avLst/>
            <a:gdLst/>
            <a:ahLst/>
            <a:cxnLst/>
            <a:rect l="l" t="t" r="r" b="b"/>
            <a:pathLst>
              <a:path w="4965700" h="115888">
                <a:moveTo>
                  <a:pt x="38100" y="115888"/>
                </a:moveTo>
                <a:lnTo>
                  <a:pt x="38100" y="115888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77788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77940" y="2252982"/>
            <a:ext cx="4942002" cy="3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Trichy</a:t>
            </a:r>
            <a:endParaRPr lang="en-US" sz="540" dirty="0"/>
          </a:p>
        </p:txBody>
      </p:sp>
      <p:sp>
        <p:nvSpPr>
          <p:cNvPr id="62" name="Text 60"/>
          <p:cNvSpPr/>
          <p:nvPr/>
        </p:nvSpPr>
        <p:spPr>
          <a:xfrm>
            <a:off x="6377940" y="2261316"/>
            <a:ext cx="4942002" cy="3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</a:t>
            </a:r>
            <a:endParaRPr lang="en-US" sz="400" dirty="0"/>
          </a:p>
        </p:txBody>
      </p:sp>
      <p:sp>
        <p:nvSpPr>
          <p:cNvPr id="63" name="Shape 61"/>
          <p:cNvSpPr/>
          <p:nvPr/>
        </p:nvSpPr>
        <p:spPr>
          <a:xfrm>
            <a:off x="6286500" y="2368869"/>
            <a:ext cx="4965700" cy="115888"/>
          </a:xfrm>
          <a:prstGeom prst="roundRect">
            <a:avLst>
              <a:gd name="adj" fmla="val 32877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286500" y="2368869"/>
            <a:ext cx="4965700" cy="115888"/>
          </a:xfrm>
          <a:custGeom>
            <a:avLst/>
            <a:gdLst/>
            <a:ahLst/>
            <a:cxnLst/>
            <a:rect l="l" t="t" r="r" b="b"/>
            <a:pathLst>
              <a:path w="4965700" h="115888">
                <a:moveTo>
                  <a:pt x="38100" y="115888"/>
                </a:moveTo>
                <a:lnTo>
                  <a:pt x="38100" y="115888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77788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77940" y="2419669"/>
            <a:ext cx="4942002" cy="3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Surathkal</a:t>
            </a:r>
            <a:endParaRPr lang="en-US" sz="540" dirty="0"/>
          </a:p>
        </p:txBody>
      </p:sp>
      <p:sp>
        <p:nvSpPr>
          <p:cNvPr id="66" name="Text 64"/>
          <p:cNvSpPr/>
          <p:nvPr/>
        </p:nvSpPr>
        <p:spPr>
          <a:xfrm>
            <a:off x="6377940" y="2428004"/>
            <a:ext cx="4942002" cy="3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</a:t>
            </a:r>
            <a:endParaRPr lang="en-US" sz="400" dirty="0"/>
          </a:p>
        </p:txBody>
      </p:sp>
      <p:sp>
        <p:nvSpPr>
          <p:cNvPr id="67" name="Shape 65"/>
          <p:cNvSpPr/>
          <p:nvPr/>
        </p:nvSpPr>
        <p:spPr>
          <a:xfrm>
            <a:off x="6159500" y="2687957"/>
            <a:ext cx="5219700" cy="983615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159500" y="2687957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1E9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299200" y="2776857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693059" y="2807971"/>
            <a:ext cx="34282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693059" y="2923539"/>
            <a:ext cx="3428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86500" y="3287396"/>
            <a:ext cx="4965700" cy="115888"/>
          </a:xfrm>
          <a:prstGeom prst="roundRect">
            <a:avLst>
              <a:gd name="adj" fmla="val 32877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286500" y="3287396"/>
            <a:ext cx="4965700" cy="115888"/>
          </a:xfrm>
          <a:custGeom>
            <a:avLst/>
            <a:gdLst/>
            <a:ahLst/>
            <a:cxnLst/>
            <a:rect l="l" t="t" r="r" b="b"/>
            <a:pathLst>
              <a:path w="4965700" h="115888">
                <a:moveTo>
                  <a:pt x="38100" y="115888"/>
                </a:moveTo>
                <a:lnTo>
                  <a:pt x="38100" y="115888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77788"/>
                </a:lnTo>
                <a:arcTo wR="19050" hR="38100" stAng="10800000" swAng="-5400000"/>
                <a:close/>
              </a:path>
            </a:pathLst>
          </a:custGeom>
          <a:solidFill>
            <a:srgbClr val="1E9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377940" y="3338196"/>
            <a:ext cx="4942002" cy="3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Warangal</a:t>
            </a:r>
            <a:endParaRPr lang="en-US" sz="540" dirty="0"/>
          </a:p>
        </p:txBody>
      </p:sp>
      <p:sp>
        <p:nvSpPr>
          <p:cNvPr id="75" name="Text 73"/>
          <p:cNvSpPr/>
          <p:nvPr/>
        </p:nvSpPr>
        <p:spPr>
          <a:xfrm>
            <a:off x="6377940" y="3346531"/>
            <a:ext cx="4942002" cy="3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</a:t>
            </a:r>
            <a:endParaRPr lang="en-US" sz="400" dirty="0"/>
          </a:p>
        </p:txBody>
      </p:sp>
      <p:sp>
        <p:nvSpPr>
          <p:cNvPr id="76" name="Shape 74"/>
          <p:cNvSpPr/>
          <p:nvPr/>
        </p:nvSpPr>
        <p:spPr>
          <a:xfrm>
            <a:off x="6286500" y="3454084"/>
            <a:ext cx="4965700" cy="115888"/>
          </a:xfrm>
          <a:prstGeom prst="roundRect">
            <a:avLst>
              <a:gd name="adj" fmla="val 32877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286500" y="3454084"/>
            <a:ext cx="4965700" cy="115888"/>
          </a:xfrm>
          <a:custGeom>
            <a:avLst/>
            <a:gdLst/>
            <a:ahLst/>
            <a:cxnLst/>
            <a:rect l="l" t="t" r="r" b="b"/>
            <a:pathLst>
              <a:path w="4965700" h="115888">
                <a:moveTo>
                  <a:pt x="38100" y="115888"/>
                </a:moveTo>
                <a:lnTo>
                  <a:pt x="38100" y="115888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77788"/>
                </a:lnTo>
                <a:arcTo wR="19050" hR="38100" stAng="10800000" swAng="-5400000"/>
                <a:close/>
              </a:path>
            </a:pathLst>
          </a:custGeom>
          <a:solidFill>
            <a:srgbClr val="1E9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377940" y="3504884"/>
            <a:ext cx="4942002" cy="33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Rourkela</a:t>
            </a:r>
            <a:endParaRPr lang="en-US" sz="540" dirty="0"/>
          </a:p>
        </p:txBody>
      </p:sp>
      <p:sp>
        <p:nvSpPr>
          <p:cNvPr id="79" name="Text 77"/>
          <p:cNvSpPr/>
          <p:nvPr/>
        </p:nvSpPr>
        <p:spPr>
          <a:xfrm>
            <a:off x="6377940" y="3513218"/>
            <a:ext cx="4942002" cy="3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</a:t>
            </a:r>
            <a:endParaRPr lang="en-US" sz="400" dirty="0"/>
          </a:p>
        </p:txBody>
      </p:sp>
      <p:sp>
        <p:nvSpPr>
          <p:cNvPr id="80" name="Shape 78"/>
          <p:cNvSpPr/>
          <p:nvPr/>
        </p:nvSpPr>
        <p:spPr>
          <a:xfrm>
            <a:off x="6159500" y="3773171"/>
            <a:ext cx="5219700" cy="983615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159500" y="3773171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157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299200" y="3862071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6693059" y="3893186"/>
            <a:ext cx="34282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6693059" y="4008757"/>
            <a:ext cx="3428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286500" y="4372611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286500" y="4372611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157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377940" y="44234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Calicut</a:t>
            </a:r>
            <a:endParaRPr lang="en-US" sz="540" dirty="0"/>
          </a:p>
        </p:txBody>
      </p:sp>
      <p:sp>
        <p:nvSpPr>
          <p:cNvPr id="88" name="Text 86"/>
          <p:cNvSpPr/>
          <p:nvPr/>
        </p:nvSpPr>
        <p:spPr>
          <a:xfrm>
            <a:off x="6377940" y="44234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</a:t>
            </a:r>
            <a:endParaRPr lang="en-US" sz="400" dirty="0"/>
          </a:p>
        </p:txBody>
      </p:sp>
      <p:sp>
        <p:nvSpPr>
          <p:cNvPr id="89" name="Shape 87"/>
          <p:cNvSpPr/>
          <p:nvPr/>
        </p:nvSpPr>
        <p:spPr>
          <a:xfrm>
            <a:off x="6286500" y="4525011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286500" y="4525011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157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6377940" y="45758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Kurukshetra</a:t>
            </a:r>
            <a:endParaRPr lang="en-US" sz="540" dirty="0"/>
          </a:p>
        </p:txBody>
      </p:sp>
      <p:sp>
        <p:nvSpPr>
          <p:cNvPr id="92" name="Text 90"/>
          <p:cNvSpPr/>
          <p:nvPr/>
        </p:nvSpPr>
        <p:spPr>
          <a:xfrm>
            <a:off x="6377940" y="45758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Haryana</a:t>
            </a:r>
            <a:endParaRPr lang="en-US" sz="400" dirty="0"/>
          </a:p>
        </p:txBody>
      </p:sp>
      <p:sp>
        <p:nvSpPr>
          <p:cNvPr id="93" name="Shape 91"/>
          <p:cNvSpPr/>
          <p:nvPr/>
        </p:nvSpPr>
        <p:spPr>
          <a:xfrm>
            <a:off x="6286500" y="4677411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6286500" y="4677411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157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377940" y="47282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Durgapur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6377940" y="4728211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Bengal</a:t>
            </a:r>
            <a:endParaRPr lang="en-US" sz="400" dirty="0"/>
          </a:p>
        </p:txBody>
      </p:sp>
      <p:sp>
        <p:nvSpPr>
          <p:cNvPr id="97" name="Shape 95"/>
          <p:cNvSpPr/>
          <p:nvPr/>
        </p:nvSpPr>
        <p:spPr>
          <a:xfrm>
            <a:off x="6159500" y="4858386"/>
            <a:ext cx="5219700" cy="983615"/>
          </a:xfrm>
          <a:prstGeom prst="roundRect">
            <a:avLst>
              <a:gd name="adj" fmla="val 77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6159500" y="4858386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0D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299200" y="4947286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6693059" y="4978400"/>
            <a:ext cx="34282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6693059" y="5093971"/>
            <a:ext cx="34282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286500" y="5457825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286500" y="5457825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0D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6377940" y="55086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MANIT Bhopal</a:t>
            </a:r>
            <a:endParaRPr lang="en-US" sz="540" dirty="0"/>
          </a:p>
        </p:txBody>
      </p:sp>
      <p:sp>
        <p:nvSpPr>
          <p:cNvPr id="105" name="Text 103"/>
          <p:cNvSpPr/>
          <p:nvPr/>
        </p:nvSpPr>
        <p:spPr>
          <a:xfrm>
            <a:off x="6377940" y="55086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</a:t>
            </a:r>
            <a:endParaRPr lang="en-US" sz="400" dirty="0"/>
          </a:p>
        </p:txBody>
      </p:sp>
      <p:sp>
        <p:nvSpPr>
          <p:cNvPr id="106" name="Shape 104"/>
          <p:cNvSpPr/>
          <p:nvPr/>
        </p:nvSpPr>
        <p:spPr>
          <a:xfrm>
            <a:off x="6286500" y="5610225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6286500" y="5610225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0D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6377940" y="56610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Jamshedpur</a:t>
            </a:r>
            <a:endParaRPr lang="en-US" sz="540" dirty="0"/>
          </a:p>
        </p:txBody>
      </p:sp>
      <p:sp>
        <p:nvSpPr>
          <p:cNvPr id="109" name="Text 107"/>
          <p:cNvSpPr/>
          <p:nvPr/>
        </p:nvSpPr>
        <p:spPr>
          <a:xfrm>
            <a:off x="6377940" y="56610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Jharkhand</a:t>
            </a:r>
            <a:endParaRPr lang="en-US" sz="400" dirty="0"/>
          </a:p>
        </p:txBody>
      </p:sp>
      <p:sp>
        <p:nvSpPr>
          <p:cNvPr id="110" name="Shape 108"/>
          <p:cNvSpPr/>
          <p:nvPr/>
        </p:nvSpPr>
        <p:spPr>
          <a:xfrm>
            <a:off x="6286500" y="5762625"/>
            <a:ext cx="4965700" cy="101600"/>
          </a:xfrm>
          <a:prstGeom prst="roundRect">
            <a:avLst>
              <a:gd name="adj" fmla="val 37500"/>
            </a:avLst>
          </a:prstGeom>
          <a:solidFill>
            <a:srgbClr val="EDF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6286500" y="5762625"/>
            <a:ext cx="4965700" cy="101600"/>
          </a:xfrm>
          <a:custGeom>
            <a:avLst/>
            <a:gdLst/>
            <a:ahLst/>
            <a:cxnLst/>
            <a:rect l="l" t="t" r="r" b="b"/>
            <a:pathLst>
              <a:path w="4965700" h="101600">
                <a:moveTo>
                  <a:pt x="38100" y="101600"/>
                </a:moveTo>
                <a:lnTo>
                  <a:pt x="38100" y="10160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63500"/>
                </a:lnTo>
                <a:arcTo wR="19050" hR="38100" stAng="10800000" swAng="-5400000"/>
                <a:close/>
              </a:path>
            </a:pathLst>
          </a:custGeom>
          <a:solidFill>
            <a:srgbClr val="0D6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6377940" y="58134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4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 Silchar</a:t>
            </a:r>
            <a:endParaRPr lang="en-US" sz="540" dirty="0"/>
          </a:p>
        </p:txBody>
      </p:sp>
      <p:sp>
        <p:nvSpPr>
          <p:cNvPr id="113" name="Text 111"/>
          <p:cNvSpPr/>
          <p:nvPr/>
        </p:nvSpPr>
        <p:spPr>
          <a:xfrm>
            <a:off x="6377940" y="5813425"/>
            <a:ext cx="494200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400" dirty="0"/>
          </a:p>
        </p:txBody>
      </p:sp>
      <p:sp>
        <p:nvSpPr>
          <p:cNvPr id="114" name="Text 112"/>
          <p:cNvSpPr/>
          <p:nvPr/>
        </p:nvSpPr>
        <p:spPr>
          <a:xfrm>
            <a:off x="812800" y="6256021"/>
            <a:ext cx="267939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9–15 of 30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Universities &amp; IISERs — Groups 16 to 20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77011"/>
            <a:ext cx="5219700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280161"/>
            <a:ext cx="53762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kern="0" spc="55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UNIVERSITIES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12800" y="1572261"/>
            <a:ext cx="5219700" cy="2090420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2800" y="1572261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8A6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52500" y="1661161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6359" y="1692275"/>
            <a:ext cx="1099899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46359" y="1807846"/>
            <a:ext cx="109989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Universities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39800" y="2171700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9800" y="2171700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43940" y="2235200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JNU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43940" y="2404111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39800" y="2633982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39800" y="2633982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43940" y="2697482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Hyderabad Central University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43940" y="2866389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Telangana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39800" y="3096261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39800" y="3096261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43940" y="3159761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Delhi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43940" y="3328671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812800" y="3751582"/>
            <a:ext cx="5219700" cy="2090420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2800" y="3751582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7A5A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52500" y="3840482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46359" y="3871596"/>
            <a:ext cx="1099899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346359" y="3987164"/>
            <a:ext cx="109989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Universities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39800" y="4351021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39800" y="4351021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43940" y="4414521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BHU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43940" y="4583432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Varanasi · UP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39800" y="4813300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39800" y="4813300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43940" y="4876800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Jadavpur University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43940" y="5045711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939800" y="5275582"/>
            <a:ext cx="4965700" cy="411480"/>
          </a:xfrm>
          <a:prstGeom prst="roundRect">
            <a:avLst>
              <a:gd name="adj" fmla="val 9259"/>
            </a:avLst>
          </a:prstGeom>
          <a:solidFill>
            <a:srgbClr val="FFFA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39800" y="5275582"/>
            <a:ext cx="4965700" cy="411480"/>
          </a:xfrm>
          <a:custGeom>
            <a:avLst/>
            <a:gdLst/>
            <a:ahLst/>
            <a:cxnLst/>
            <a:rect l="l" t="t" r="r" b="b"/>
            <a:pathLst>
              <a:path w="4965700" h="411480">
                <a:moveTo>
                  <a:pt x="38100" y="411480"/>
                </a:moveTo>
                <a:lnTo>
                  <a:pt x="38100" y="41148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73380"/>
                </a:lnTo>
                <a:arcTo wR="19050" hR="381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43940" y="5339082"/>
            <a:ext cx="491584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Jamia Millia Islamia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43940" y="5507989"/>
            <a:ext cx="491584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159500" y="1477011"/>
            <a:ext cx="5219700" cy="0"/>
          </a:xfrm>
          <a:prstGeom prst="line">
            <a:avLst/>
          </a:prstGeom>
          <a:noFill/>
          <a:ln w="12700">
            <a:solidFill>
              <a:srgbClr val="6B3F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59500" y="1280161"/>
            <a:ext cx="53762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kern="0" spc="55" dirty="0">
                <a:solidFill>
                  <a:srgbClr val="6B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SCIENCE · IISc · TIFR · IISERs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59500" y="1572261"/>
            <a:ext cx="5219700" cy="136398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159500" y="1572261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6B3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99200" y="1661161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693059" y="1692275"/>
            <a:ext cx="648414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693059" y="1807846"/>
            <a:ext cx="64841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IISc + TIFR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86500" y="2171700"/>
            <a:ext cx="4965700" cy="306070"/>
          </a:xfrm>
          <a:prstGeom prst="roundRect">
            <a:avLst>
              <a:gd name="adj" fmla="val 12448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286500" y="2171700"/>
            <a:ext cx="4965700" cy="306070"/>
          </a:xfrm>
          <a:custGeom>
            <a:avLst/>
            <a:gdLst/>
            <a:ahLst/>
            <a:cxnLst/>
            <a:rect l="l" t="t" r="r" b="b"/>
            <a:pathLst>
              <a:path w="4965700" h="306070">
                <a:moveTo>
                  <a:pt x="38100" y="306070"/>
                </a:moveTo>
                <a:lnTo>
                  <a:pt x="38100" y="30607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67970"/>
                </a:lnTo>
                <a:arcTo wR="19050" hR="38100" stAng="10800000" swAng="-5400000"/>
                <a:close/>
              </a:path>
            </a:pathLst>
          </a:custGeom>
          <a:solidFill>
            <a:srgbClr val="6B3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90640" y="2235200"/>
            <a:ext cx="4915840" cy="1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3"/>
              </a:lnSpc>
              <a:buNone/>
            </a:pPr>
            <a:r>
              <a:rPr lang="en-US" sz="623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IISc Bangalore</a:t>
            </a:r>
            <a:endParaRPr lang="en-US" sz="623" dirty="0"/>
          </a:p>
        </p:txBody>
      </p:sp>
      <p:sp>
        <p:nvSpPr>
          <p:cNvPr id="49" name="Text 47"/>
          <p:cNvSpPr/>
          <p:nvPr/>
        </p:nvSpPr>
        <p:spPr>
          <a:xfrm>
            <a:off x="6390640" y="2341563"/>
            <a:ext cx="4915840" cy="9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4"/>
              </a:lnSpc>
              <a:buNone/>
            </a:pPr>
            <a:r>
              <a:rPr lang="en-US" sz="41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</a:t>
            </a:r>
            <a:endParaRPr lang="en-US" sz="410" dirty="0"/>
          </a:p>
        </p:txBody>
      </p:sp>
      <p:sp>
        <p:nvSpPr>
          <p:cNvPr id="50" name="Shape 48"/>
          <p:cNvSpPr/>
          <p:nvPr/>
        </p:nvSpPr>
        <p:spPr>
          <a:xfrm>
            <a:off x="6286500" y="2528571"/>
            <a:ext cx="4965700" cy="306070"/>
          </a:xfrm>
          <a:prstGeom prst="roundRect">
            <a:avLst>
              <a:gd name="adj" fmla="val 12448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286500" y="2528571"/>
            <a:ext cx="4965700" cy="306070"/>
          </a:xfrm>
          <a:custGeom>
            <a:avLst/>
            <a:gdLst/>
            <a:ahLst/>
            <a:cxnLst/>
            <a:rect l="l" t="t" r="r" b="b"/>
            <a:pathLst>
              <a:path w="4965700" h="306070">
                <a:moveTo>
                  <a:pt x="38100" y="306070"/>
                </a:moveTo>
                <a:lnTo>
                  <a:pt x="38100" y="30607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67970"/>
                </a:lnTo>
                <a:arcTo wR="19050" hR="38100" stAng="10800000" swAng="-5400000"/>
                <a:close/>
              </a:path>
            </a:pathLst>
          </a:custGeom>
          <a:solidFill>
            <a:srgbClr val="6B3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390640" y="2592071"/>
            <a:ext cx="4915840" cy="1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3"/>
              </a:lnSpc>
              <a:buNone/>
            </a:pPr>
            <a:r>
              <a:rPr lang="en-US" sz="623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TIFR Mumbai</a:t>
            </a:r>
            <a:endParaRPr lang="en-US" sz="623" dirty="0"/>
          </a:p>
        </p:txBody>
      </p:sp>
      <p:sp>
        <p:nvSpPr>
          <p:cNvPr id="53" name="Text 51"/>
          <p:cNvSpPr/>
          <p:nvPr/>
        </p:nvSpPr>
        <p:spPr>
          <a:xfrm>
            <a:off x="6390640" y="2698434"/>
            <a:ext cx="4915840" cy="9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4"/>
              </a:lnSpc>
              <a:buNone/>
            </a:pPr>
            <a:r>
              <a:rPr lang="en-US" sz="41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Maharashtra</a:t>
            </a:r>
            <a:endParaRPr lang="en-US" sz="410" dirty="0"/>
          </a:p>
        </p:txBody>
      </p:sp>
      <p:sp>
        <p:nvSpPr>
          <p:cNvPr id="54" name="Shape 52"/>
          <p:cNvSpPr/>
          <p:nvPr/>
        </p:nvSpPr>
        <p:spPr>
          <a:xfrm>
            <a:off x="6159500" y="3025139"/>
            <a:ext cx="5219700" cy="136398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159500" y="3025139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5A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99200" y="3114039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93059" y="3145157"/>
            <a:ext cx="413703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693059" y="3260725"/>
            <a:ext cx="413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86500" y="3624582"/>
            <a:ext cx="4965700" cy="306070"/>
          </a:xfrm>
          <a:prstGeom prst="roundRect">
            <a:avLst>
              <a:gd name="adj" fmla="val 12448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286500" y="3624582"/>
            <a:ext cx="4965700" cy="306070"/>
          </a:xfrm>
          <a:custGeom>
            <a:avLst/>
            <a:gdLst/>
            <a:ahLst/>
            <a:cxnLst/>
            <a:rect l="l" t="t" r="r" b="b"/>
            <a:pathLst>
              <a:path w="4965700" h="306070">
                <a:moveTo>
                  <a:pt x="38100" y="306070"/>
                </a:moveTo>
                <a:lnTo>
                  <a:pt x="38100" y="30607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67970"/>
                </a:lnTo>
                <a:arcTo wR="19050" hR="38100" stAng="10800000" swAng="-5400000"/>
                <a:close/>
              </a:path>
            </a:pathLst>
          </a:custGeom>
          <a:solidFill>
            <a:srgbClr val="5A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90640" y="3688082"/>
            <a:ext cx="4915840" cy="1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3"/>
              </a:lnSpc>
              <a:buNone/>
            </a:pPr>
            <a:r>
              <a:rPr lang="en-US" sz="623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 Pune</a:t>
            </a:r>
            <a:endParaRPr lang="en-US" sz="623" dirty="0"/>
          </a:p>
        </p:txBody>
      </p:sp>
      <p:sp>
        <p:nvSpPr>
          <p:cNvPr id="62" name="Text 60"/>
          <p:cNvSpPr/>
          <p:nvPr/>
        </p:nvSpPr>
        <p:spPr>
          <a:xfrm>
            <a:off x="6390640" y="3794444"/>
            <a:ext cx="4915840" cy="9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4"/>
              </a:lnSpc>
              <a:buNone/>
            </a:pPr>
            <a:r>
              <a:rPr lang="en-US" sz="41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Maharashtra</a:t>
            </a:r>
            <a:endParaRPr lang="en-US" sz="410" dirty="0"/>
          </a:p>
        </p:txBody>
      </p:sp>
      <p:sp>
        <p:nvSpPr>
          <p:cNvPr id="63" name="Shape 61"/>
          <p:cNvSpPr/>
          <p:nvPr/>
        </p:nvSpPr>
        <p:spPr>
          <a:xfrm>
            <a:off x="6286500" y="3981450"/>
            <a:ext cx="4965700" cy="306070"/>
          </a:xfrm>
          <a:prstGeom prst="roundRect">
            <a:avLst>
              <a:gd name="adj" fmla="val 12448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286500" y="3981450"/>
            <a:ext cx="4965700" cy="306070"/>
          </a:xfrm>
          <a:custGeom>
            <a:avLst/>
            <a:gdLst/>
            <a:ahLst/>
            <a:cxnLst/>
            <a:rect l="l" t="t" r="r" b="b"/>
            <a:pathLst>
              <a:path w="4965700" h="306070">
                <a:moveTo>
                  <a:pt x="38100" y="306070"/>
                </a:moveTo>
                <a:lnTo>
                  <a:pt x="38100" y="30607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267970"/>
                </a:lnTo>
                <a:arcTo wR="19050" hR="38100" stAng="10800000" swAng="-5400000"/>
                <a:close/>
              </a:path>
            </a:pathLst>
          </a:custGeom>
          <a:solidFill>
            <a:srgbClr val="5A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90640" y="4044950"/>
            <a:ext cx="4915840" cy="13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73"/>
              </a:lnSpc>
              <a:buNone/>
            </a:pPr>
            <a:r>
              <a:rPr lang="en-US" sz="623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 Kolkata</a:t>
            </a:r>
            <a:endParaRPr lang="en-US" sz="623" dirty="0"/>
          </a:p>
        </p:txBody>
      </p:sp>
      <p:sp>
        <p:nvSpPr>
          <p:cNvPr id="66" name="Text 64"/>
          <p:cNvSpPr/>
          <p:nvPr/>
        </p:nvSpPr>
        <p:spPr>
          <a:xfrm>
            <a:off x="6390640" y="4151313"/>
            <a:ext cx="4915840" cy="98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4"/>
              </a:lnSpc>
              <a:buNone/>
            </a:pPr>
            <a:r>
              <a:rPr lang="en-US" sz="41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Bengal</a:t>
            </a:r>
            <a:endParaRPr lang="en-US" sz="410" dirty="0"/>
          </a:p>
        </p:txBody>
      </p:sp>
      <p:sp>
        <p:nvSpPr>
          <p:cNvPr id="67" name="Shape 65"/>
          <p:cNvSpPr/>
          <p:nvPr/>
        </p:nvSpPr>
        <p:spPr>
          <a:xfrm>
            <a:off x="6159500" y="4478021"/>
            <a:ext cx="5219700" cy="136398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159500" y="4478021"/>
            <a:ext cx="5219700" cy="497840"/>
          </a:xfrm>
          <a:custGeom>
            <a:avLst/>
            <a:gdLst/>
            <a:ahLst/>
            <a:cxnLst/>
            <a:rect l="l" t="t" r="r" b="b"/>
            <a:pathLst>
              <a:path w="5219700" h="497840">
                <a:moveTo>
                  <a:pt x="0" y="76200"/>
                </a:moveTo>
                <a:arcTo wR="76200" hR="76200" stAng="10800000" swAng="5400000"/>
                <a:lnTo>
                  <a:pt x="5143500" y="0"/>
                </a:lnTo>
                <a:arcTo wR="76200" hR="76200" stAng="16200000" swAng="5400000"/>
                <a:lnTo>
                  <a:pt x="5219700" y="497840"/>
                </a:lnTo>
                <a:lnTo>
                  <a:pt x="0" y="497840"/>
                </a:lnTo>
                <a:close/>
              </a:path>
            </a:pathLst>
          </a:custGeom>
          <a:solidFill>
            <a:srgbClr val="4A2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299200" y="4566921"/>
            <a:ext cx="35575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693059" y="4598036"/>
            <a:ext cx="413703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693059" y="4713607"/>
            <a:ext cx="41370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86500" y="5077461"/>
            <a:ext cx="4965700" cy="187166"/>
          </a:xfrm>
          <a:prstGeom prst="roundRect">
            <a:avLst>
              <a:gd name="adj" fmla="val 20356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286500" y="5077461"/>
            <a:ext cx="4965700" cy="187166"/>
          </a:xfrm>
          <a:custGeom>
            <a:avLst/>
            <a:gdLst/>
            <a:ahLst/>
            <a:cxnLst/>
            <a:rect l="l" t="t" r="r" b="b"/>
            <a:pathLst>
              <a:path w="4965700" h="187166">
                <a:moveTo>
                  <a:pt x="38100" y="187166"/>
                </a:moveTo>
                <a:lnTo>
                  <a:pt x="38100" y="187166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9066"/>
                </a:lnTo>
                <a:arcTo wR="19050" hR="38100" stAng="10800000" swAng="-5400000"/>
                <a:close/>
              </a:path>
            </a:pathLst>
          </a:custGeom>
          <a:solidFill>
            <a:srgbClr val="4A2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390640" y="5140961"/>
            <a:ext cx="4915840" cy="61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8"/>
              </a:lnSpc>
              <a:buNone/>
            </a:pPr>
            <a:r>
              <a:rPr lang="en-US" sz="57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 Bhopal</a:t>
            </a:r>
            <a:endParaRPr lang="en-US" sz="570" dirty="0"/>
          </a:p>
        </p:txBody>
      </p:sp>
      <p:sp>
        <p:nvSpPr>
          <p:cNvPr id="75" name="Text 73"/>
          <p:cNvSpPr/>
          <p:nvPr/>
        </p:nvSpPr>
        <p:spPr>
          <a:xfrm>
            <a:off x="6390640" y="5176679"/>
            <a:ext cx="4915840" cy="4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Madhya Pradesh</a:t>
            </a:r>
            <a:endParaRPr lang="en-US" sz="400" dirty="0"/>
          </a:p>
        </p:txBody>
      </p:sp>
      <p:sp>
        <p:nvSpPr>
          <p:cNvPr id="76" name="Shape 74"/>
          <p:cNvSpPr/>
          <p:nvPr/>
        </p:nvSpPr>
        <p:spPr>
          <a:xfrm>
            <a:off x="6286500" y="5315427"/>
            <a:ext cx="4965700" cy="187087"/>
          </a:xfrm>
          <a:prstGeom prst="roundRect">
            <a:avLst>
              <a:gd name="adj" fmla="val 20365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286500" y="5315427"/>
            <a:ext cx="4965700" cy="187087"/>
          </a:xfrm>
          <a:custGeom>
            <a:avLst/>
            <a:gdLst/>
            <a:ahLst/>
            <a:cxnLst/>
            <a:rect l="l" t="t" r="r" b="b"/>
            <a:pathLst>
              <a:path w="4965700" h="187087">
                <a:moveTo>
                  <a:pt x="38100" y="187087"/>
                </a:moveTo>
                <a:lnTo>
                  <a:pt x="38100" y="187087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8987"/>
                </a:lnTo>
                <a:arcTo wR="19050" hR="38100" stAng="10800000" swAng="-5400000"/>
                <a:close/>
              </a:path>
            </a:pathLst>
          </a:custGeom>
          <a:solidFill>
            <a:srgbClr val="4A2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390640" y="5378927"/>
            <a:ext cx="4915840" cy="61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8"/>
              </a:lnSpc>
              <a:buNone/>
            </a:pPr>
            <a:r>
              <a:rPr lang="en-US" sz="57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 Mohali</a:t>
            </a:r>
            <a:endParaRPr lang="en-US" sz="570" dirty="0"/>
          </a:p>
        </p:txBody>
      </p:sp>
      <p:sp>
        <p:nvSpPr>
          <p:cNvPr id="79" name="Text 77"/>
          <p:cNvSpPr/>
          <p:nvPr/>
        </p:nvSpPr>
        <p:spPr>
          <a:xfrm>
            <a:off x="6390640" y="5414566"/>
            <a:ext cx="4915840" cy="4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</a:t>
            </a:r>
            <a:endParaRPr lang="en-US" sz="400" dirty="0"/>
          </a:p>
        </p:txBody>
      </p:sp>
      <p:sp>
        <p:nvSpPr>
          <p:cNvPr id="80" name="Shape 78"/>
          <p:cNvSpPr/>
          <p:nvPr/>
        </p:nvSpPr>
        <p:spPr>
          <a:xfrm>
            <a:off x="6286500" y="5553314"/>
            <a:ext cx="4965700" cy="187087"/>
          </a:xfrm>
          <a:prstGeom prst="roundRect">
            <a:avLst>
              <a:gd name="adj" fmla="val 20365"/>
            </a:avLst>
          </a:prstGeom>
          <a:solidFill>
            <a:srgbClr val="F5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286500" y="5553314"/>
            <a:ext cx="4965700" cy="187087"/>
          </a:xfrm>
          <a:custGeom>
            <a:avLst/>
            <a:gdLst/>
            <a:ahLst/>
            <a:cxnLst/>
            <a:rect l="l" t="t" r="r" b="b"/>
            <a:pathLst>
              <a:path w="4965700" h="187087">
                <a:moveTo>
                  <a:pt x="38100" y="187087"/>
                </a:moveTo>
                <a:lnTo>
                  <a:pt x="38100" y="187087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148987"/>
                </a:lnTo>
                <a:arcTo wR="19050" hR="38100" stAng="10800000" swAng="-5400000"/>
                <a:close/>
              </a:path>
            </a:pathLst>
          </a:custGeom>
          <a:solidFill>
            <a:srgbClr val="4A2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390640" y="5616814"/>
            <a:ext cx="4915840" cy="61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8"/>
              </a:lnSpc>
              <a:buNone/>
            </a:pPr>
            <a:r>
              <a:rPr lang="en-US" sz="57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IISER Thiruvananthapuram</a:t>
            </a:r>
            <a:endParaRPr lang="en-US" sz="570" dirty="0"/>
          </a:p>
        </p:txBody>
      </p:sp>
      <p:sp>
        <p:nvSpPr>
          <p:cNvPr id="83" name="Text 81"/>
          <p:cNvSpPr/>
          <p:nvPr/>
        </p:nvSpPr>
        <p:spPr>
          <a:xfrm>
            <a:off x="6390640" y="5652452"/>
            <a:ext cx="4915840" cy="4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Kerala</a:t>
            </a:r>
            <a:endParaRPr lang="en-US" sz="400" dirty="0"/>
          </a:p>
        </p:txBody>
      </p:sp>
      <p:sp>
        <p:nvSpPr>
          <p:cNvPr id="84" name="Text 82"/>
          <p:cNvSpPr/>
          <p:nvPr/>
        </p:nvSpPr>
        <p:spPr>
          <a:xfrm>
            <a:off x="812800" y="6256021"/>
            <a:ext cx="27594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16–20 of 30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Premier Science Institutes — Groups 21 to 23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280161"/>
            <a:ext cx="3420507" cy="456184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800" y="1280161"/>
            <a:ext cx="3420507" cy="609600"/>
          </a:xfrm>
          <a:custGeom>
            <a:avLst/>
            <a:gdLst/>
            <a:ahLst/>
            <a:cxnLst/>
            <a:rect l="l" t="t" r="r" b="b"/>
            <a:pathLst>
              <a:path w="3420507" h="609600">
                <a:moveTo>
                  <a:pt x="0" y="88900"/>
                </a:move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600" y="1407161"/>
            <a:ext cx="525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66624" y="1438275"/>
            <a:ext cx="1312624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STATISTICS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566624" y="1553846"/>
            <a:ext cx="13126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— All Campuses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0600" y="2042161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8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90600" y="2042161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17600" y="2118361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Kolkata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7600" y="2296161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Bengal · Main campus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90600" y="2573021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8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90600" y="2573021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17600" y="2649221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Delhi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7600" y="2827021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Delhi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90600" y="3103882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8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90600" y="3103882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17600" y="3180082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Bangalore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7600" y="3357882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90600" y="3634739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8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90600" y="3634739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17600" y="3710939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Chennai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7600" y="3888739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90600" y="4165600"/>
            <a:ext cx="3064907" cy="242570"/>
          </a:xfrm>
          <a:prstGeom prst="roundRect">
            <a:avLst>
              <a:gd name="adj" fmla="val 15707"/>
            </a:avLst>
          </a:prstGeom>
          <a:solidFill>
            <a:srgbClr val="F0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79500" y="4229100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1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Use ROR ID: ror.org/01an7q238 — not name search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385707" y="1280161"/>
            <a:ext cx="3420586" cy="456184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85707" y="1280161"/>
            <a:ext cx="3420586" cy="609600"/>
          </a:xfrm>
          <a:custGeom>
            <a:avLst/>
            <a:gdLst/>
            <a:ahLst/>
            <a:cxnLst/>
            <a:rect l="l" t="t" r="r" b="b"/>
            <a:pathLst>
              <a:path w="3420586" h="609600">
                <a:moveTo>
                  <a:pt x="0" y="88900"/>
                </a:move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2A5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63507" y="1407161"/>
            <a:ext cx="525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139531" y="1438275"/>
            <a:ext cx="1203563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MATH &amp; THEORY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139531" y="1553846"/>
            <a:ext cx="12035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IMSc · CMI · HRI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63507" y="2042161"/>
            <a:ext cx="3064986" cy="454660"/>
          </a:xfrm>
          <a:prstGeom prst="roundRect">
            <a:avLst>
              <a:gd name="adj" fmla="val 11173"/>
            </a:avLst>
          </a:prstGeom>
          <a:solidFill>
            <a:srgbClr val="ED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63507" y="2042161"/>
            <a:ext cx="3064986" cy="454660"/>
          </a:xfrm>
          <a:custGeom>
            <a:avLst/>
            <a:gdLst/>
            <a:ahLst/>
            <a:cxnLst/>
            <a:rect l="l" t="t" r="r" b="b"/>
            <a:pathLst>
              <a:path w="3064986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2A5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90507" y="2118361"/>
            <a:ext cx="29214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IMSc Chennai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90507" y="2296161"/>
            <a:ext cx="2921478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of Mathematical Sciences · Tamil Nadu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63507" y="2573021"/>
            <a:ext cx="3064986" cy="454660"/>
          </a:xfrm>
          <a:prstGeom prst="roundRect">
            <a:avLst>
              <a:gd name="adj" fmla="val 11173"/>
            </a:avLst>
          </a:prstGeom>
          <a:solidFill>
            <a:srgbClr val="ED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63507" y="2573021"/>
            <a:ext cx="3064986" cy="454660"/>
          </a:xfrm>
          <a:custGeom>
            <a:avLst/>
            <a:gdLst/>
            <a:ahLst/>
            <a:cxnLst/>
            <a:rect l="l" t="t" r="r" b="b"/>
            <a:pathLst>
              <a:path w="3064986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2A5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90507" y="2649221"/>
            <a:ext cx="29214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Chennai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90507" y="2827021"/>
            <a:ext cx="2921478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Mathematical Institute · Tamil Nadu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63507" y="3103882"/>
            <a:ext cx="3064986" cy="454660"/>
          </a:xfrm>
          <a:prstGeom prst="roundRect">
            <a:avLst>
              <a:gd name="adj" fmla="val 11173"/>
            </a:avLst>
          </a:prstGeom>
          <a:solidFill>
            <a:srgbClr val="EDF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63507" y="3103882"/>
            <a:ext cx="3064986" cy="454660"/>
          </a:xfrm>
          <a:custGeom>
            <a:avLst/>
            <a:gdLst/>
            <a:ahLst/>
            <a:cxnLst/>
            <a:rect l="l" t="t" r="r" b="b"/>
            <a:pathLst>
              <a:path w="3064986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2A5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90507" y="3180082"/>
            <a:ext cx="29214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HRI Allahabad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90507" y="3357882"/>
            <a:ext cx="2921478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Harish-Chandra Research Institute · UP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63507" y="3634739"/>
            <a:ext cx="3064986" cy="358140"/>
          </a:xfrm>
          <a:prstGeom prst="roundRect">
            <a:avLst>
              <a:gd name="adj" fmla="val 10638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52407" y="3698239"/>
            <a:ext cx="29738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2A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but high-impact — cross-check institute websites for full faculty lists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958693" y="1280161"/>
            <a:ext cx="3420507" cy="4561840"/>
          </a:xfrm>
          <a:prstGeom prst="roundRect">
            <a:avLst>
              <a:gd name="adj" fmla="val 25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958693" y="1280161"/>
            <a:ext cx="3420507" cy="609600"/>
          </a:xfrm>
          <a:custGeom>
            <a:avLst/>
            <a:gdLst/>
            <a:ahLst/>
            <a:cxnLst/>
            <a:rect l="l" t="t" r="r" b="b"/>
            <a:pathLst>
              <a:path w="3420507" h="609600">
                <a:moveTo>
                  <a:pt x="0" y="88900"/>
                </a:move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3A6A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136493" y="1407161"/>
            <a:ext cx="525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712518" y="1438275"/>
            <a:ext cx="1597898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4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PHYSICS &amp; BIOLOGY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712518" y="1553846"/>
            <a:ext cx="15978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Kolkata Cluster + NCBS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36493" y="2042161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DFA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136493" y="2042161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3A6A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263493" y="2118361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SNBOSE Kolkata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63493" y="2296161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S.N. Bose National Centre · West Bengal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136493" y="2573021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DFA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136493" y="2573021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3A6A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263493" y="2649221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Bose Institute Kolkata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63493" y="2827021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Bengal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136493" y="3103882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DFA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136493" y="3103882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3A6A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263493" y="3180082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SINP Kolkata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63493" y="3357882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Institute of Nuclear Physics · WB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136493" y="3634739"/>
            <a:ext cx="3064907" cy="454660"/>
          </a:xfrm>
          <a:prstGeom prst="roundRect">
            <a:avLst>
              <a:gd name="adj" fmla="val 11173"/>
            </a:avLst>
          </a:prstGeom>
          <a:solidFill>
            <a:srgbClr val="EDFA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136493" y="3634739"/>
            <a:ext cx="3064907" cy="454660"/>
          </a:xfrm>
          <a:custGeom>
            <a:avLst/>
            <a:gdLst/>
            <a:ahLst/>
            <a:cxnLst/>
            <a:rect l="l" t="t" r="r" b="b"/>
            <a:pathLst>
              <a:path w="3064907" h="454660">
                <a:moveTo>
                  <a:pt x="50800" y="454660"/>
                </a:moveTo>
                <a:lnTo>
                  <a:pt x="50800" y="4546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403860"/>
                </a:lnTo>
                <a:arcTo wR="25400" hR="50800" stAng="10800000" swAng="-5400000"/>
                <a:close/>
              </a:path>
            </a:pathLst>
          </a:custGeom>
          <a:solidFill>
            <a:srgbClr val="3A6A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8263493" y="3710939"/>
            <a:ext cx="29213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NCBS Bangalore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63493" y="3888739"/>
            <a:ext cx="2921396" cy="14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Centre for Biological Sciences · KA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12800" y="6256021"/>
            <a:ext cx="27594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21–23 of 30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47644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 Labs — Groups 24 to 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018984" y="838200"/>
            <a:ext cx="243102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&amp; Physics / Instrumentation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12800" y="1280161"/>
            <a:ext cx="3420507" cy="4561840"/>
          </a:xfrm>
          <a:prstGeom prst="roundRect">
            <a:avLst>
              <a:gd name="adj" fmla="val 2599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800" y="1280161"/>
            <a:ext cx="3420507" cy="533400"/>
          </a:xfrm>
          <a:custGeom>
            <a:avLst/>
            <a:gdLst/>
            <a:ahLst/>
            <a:cxnLst/>
            <a:rect l="l" t="t" r="r" b="b"/>
            <a:pathLst>
              <a:path w="3420507" h="533400">
                <a:moveTo>
                  <a:pt x="0" y="88900"/>
                </a:move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7900" y="1394461"/>
            <a:ext cx="4574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73438" y="1417957"/>
            <a:ext cx="175775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40" dirty="0">
                <a:solidFill>
                  <a:srgbClr val="00000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CSIR CHEMISTRY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73438" y="1524636"/>
            <a:ext cx="175775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&amp; Organic Chemistry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5200" y="1940561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5200" y="1940561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2200" y="2016761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CSIR-NCL Pune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2200" y="2185671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Chemical Laboratory · Maharashtra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65200" y="2440939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65200" y="2440939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2200" y="2517139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CSIR-IICT Hyderabad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2200" y="2686050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Institute of Chemical Technology · Telangana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65200" y="2941321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65200" y="2941321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92200" y="3017521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CSIR-CECRI Karaikudi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2200" y="3186432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Electrochemical Research Inst. · Tamil Nadu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385707" y="1280161"/>
            <a:ext cx="3420586" cy="4561840"/>
          </a:xfrm>
          <a:prstGeom prst="roundRect">
            <a:avLst>
              <a:gd name="adj" fmla="val 2599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85707" y="1280161"/>
            <a:ext cx="3420586" cy="533400"/>
          </a:xfrm>
          <a:custGeom>
            <a:avLst/>
            <a:gdLst/>
            <a:ahLst/>
            <a:cxnLst/>
            <a:rect l="l" t="t" r="r" b="b"/>
            <a:pathLst>
              <a:path w="3420586" h="533400">
                <a:moveTo>
                  <a:pt x="0" y="88900"/>
                </a:moveTo>
                <a:arcTo wR="88900" hR="88900" stAng="10800000" swAng="5400000"/>
                <a:lnTo>
                  <a:pt x="3331686" y="0"/>
                </a:lnTo>
                <a:arcTo wR="88900" hR="88900" stAng="16200000" swAng="5400000"/>
                <a:lnTo>
                  <a:pt x="3420586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50807" y="1394461"/>
            <a:ext cx="4574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1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46345" y="1417957"/>
            <a:ext cx="1757923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40" dirty="0">
                <a:solidFill>
                  <a:srgbClr val="00000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CSIR CHEMISTRY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46345" y="1524636"/>
            <a:ext cx="1757923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Chemistry &amp; Materials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38107" y="1940561"/>
            <a:ext cx="3115786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38107" y="1940561"/>
            <a:ext cx="3115786" cy="436880"/>
          </a:xfrm>
          <a:custGeom>
            <a:avLst/>
            <a:gdLst/>
            <a:ahLst/>
            <a:cxnLst/>
            <a:rect l="l" t="t" r="r" b="b"/>
            <a:pathLst>
              <a:path w="3115786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65107" y="2016761"/>
            <a:ext cx="297380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CSIR-CFTRI Mysore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5107" y="2185671"/>
            <a:ext cx="2973802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Food Technology Research Inst. · Karnataka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538107" y="2440939"/>
            <a:ext cx="3115786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38107" y="2440939"/>
            <a:ext cx="3115786" cy="436880"/>
          </a:xfrm>
          <a:custGeom>
            <a:avLst/>
            <a:gdLst/>
            <a:ahLst/>
            <a:cxnLst/>
            <a:rect l="l" t="t" r="r" b="b"/>
            <a:pathLst>
              <a:path w="3115786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5107" y="2517139"/>
            <a:ext cx="297380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CSIR-NIIST Trivandrum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5107" y="2686050"/>
            <a:ext cx="2973802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Inst. for Interdisciplinary Science · Kerala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538107" y="2941321"/>
            <a:ext cx="3115786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38107" y="2941321"/>
            <a:ext cx="3115786" cy="436880"/>
          </a:xfrm>
          <a:custGeom>
            <a:avLst/>
            <a:gdLst/>
            <a:ahLst/>
            <a:cxnLst/>
            <a:rect l="l" t="t" r="r" b="b"/>
            <a:pathLst>
              <a:path w="3115786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C8A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5107" y="3017521"/>
            <a:ext cx="2973802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CSIR-NML Jamshedpur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5107" y="3186432"/>
            <a:ext cx="2973802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Metallurgical Laboratory · Jharkhand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958693" y="1280161"/>
            <a:ext cx="3420507" cy="4561840"/>
          </a:xfrm>
          <a:prstGeom prst="roundRect">
            <a:avLst>
              <a:gd name="adj" fmla="val 2599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958693" y="1280161"/>
            <a:ext cx="3420507" cy="533400"/>
          </a:xfrm>
          <a:custGeom>
            <a:avLst/>
            <a:gdLst/>
            <a:ahLst/>
            <a:cxnLst/>
            <a:rect l="l" t="t" r="r" b="b"/>
            <a:pathLst>
              <a:path w="3420507" h="533400">
                <a:moveTo>
                  <a:pt x="0" y="88900"/>
                </a:moveTo>
                <a:arcTo wR="88900" hR="88900" stAng="10800000" swAng="5400000"/>
                <a:lnTo>
                  <a:pt x="3331607" y="0"/>
                </a:lnTo>
                <a:arcTo wR="88900" hR="88900" stAng="16200000" swAng="5400000"/>
                <a:lnTo>
                  <a:pt x="3420507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23793" y="1394461"/>
            <a:ext cx="4574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619331" y="1417957"/>
            <a:ext cx="1535113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4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CSIR PHYSICS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619331" y="1524636"/>
            <a:ext cx="1535113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&amp; Instrumentation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11093" y="1940561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11093" y="1940561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238093" y="2016761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CSIR-NPL Delhi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38093" y="2185671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Physical Laboratory · New Delhi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8111093" y="2440939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11093" y="2440939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238093" y="2517139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CSIR-CSIO Chandigarh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38093" y="2686050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Scientific Instruments Organisation · Punjab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111093" y="2941321"/>
            <a:ext cx="3115707" cy="436880"/>
          </a:xfrm>
          <a:prstGeom prst="roundRect">
            <a:avLst>
              <a:gd name="adj" fmla="val 11628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8111093" y="2941321"/>
            <a:ext cx="3115707" cy="436880"/>
          </a:xfrm>
          <a:custGeom>
            <a:avLst/>
            <a:gdLst/>
            <a:ahLst/>
            <a:cxnLst/>
            <a:rect l="l" t="t" r="r" b="b"/>
            <a:pathLst>
              <a:path w="3115707" h="436880">
                <a:moveTo>
                  <a:pt x="50800" y="436880"/>
                </a:moveTo>
                <a:lnTo>
                  <a:pt x="50800" y="4368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25400" hR="50800" stAng="16200000" swAng="-5400000"/>
                <a:lnTo>
                  <a:pt x="25400" y="386080"/>
                </a:lnTo>
                <a:arcTo wR="25400" hR="50800" stAng="10800000" swAng="-5400000"/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238093" y="3017521"/>
            <a:ext cx="29737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CSIR-CGCRI Kolkata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238093" y="3186432"/>
            <a:ext cx="2973720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Glass &amp; Ceramic Research Inst. · WB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12800" y="6256021"/>
            <a:ext cx="27594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A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24–26 of 30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826605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 + DAE — Groups 27 to 30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041924" y="838200"/>
            <a:ext cx="240739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· Biology · DAE Institutes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12800" y="1280164"/>
            <a:ext cx="2546350" cy="4561840"/>
          </a:xfrm>
          <a:prstGeom prst="roundRect">
            <a:avLst>
              <a:gd name="adj" fmla="val 3491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800" y="1280164"/>
            <a:ext cx="2546350" cy="482600"/>
          </a:xfrm>
          <a:custGeom>
            <a:avLst/>
            <a:gdLst/>
            <a:ahLst/>
            <a:cxnLst/>
            <a:rect l="l" t="t" r="r" b="b"/>
            <a:pathLst>
              <a:path w="2546350" h="482600">
                <a:moveTo>
                  <a:pt x="0" y="88900"/>
                </a:moveTo>
                <a:arcTo wR="88900" hR="88900" stAng="10800000" swAng="5400000"/>
                <a:lnTo>
                  <a:pt x="2457450" y="0"/>
                </a:lnTo>
                <a:arcTo wR="88900" hR="88900" stAng="16200000" swAng="5400000"/>
                <a:lnTo>
                  <a:pt x="254635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2500" y="1381764"/>
            <a:ext cx="423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01445" y="1401446"/>
            <a:ext cx="1229995" cy="12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4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 · MECHANICAL / CIVIL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1401445" y="1499239"/>
            <a:ext cx="122999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Labs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39800" y="1864364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39800" y="1864364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43940" y="1927864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CSIR-CMERI Durgapur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43940" y="2078992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Mechanical Engg Research Inst. · WB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939800" y="2299971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39800" y="2299971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43940" y="2363471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CSIR-CRRI Delhi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43940" y="2514600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Road Research Institute · New Delhi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939800" y="2735579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39800" y="2735579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43940" y="2799079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CSIR-CIMFR Dhanbad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3940" y="2950214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Inst. of Mining &amp; Fuel Research · JH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939800" y="3171192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9800" y="3171192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43940" y="3234692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CSIR-CBRI Roorkee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43940" y="3385821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Building Research Institute · UK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486150" y="1280164"/>
            <a:ext cx="2546350" cy="4561840"/>
          </a:xfrm>
          <a:prstGeom prst="roundRect">
            <a:avLst>
              <a:gd name="adj" fmla="val 3491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86150" y="1280164"/>
            <a:ext cx="2546350" cy="482600"/>
          </a:xfrm>
          <a:custGeom>
            <a:avLst/>
            <a:gdLst/>
            <a:ahLst/>
            <a:cxnLst/>
            <a:rect l="l" t="t" r="r" b="b"/>
            <a:pathLst>
              <a:path w="2546350" h="482600">
                <a:moveTo>
                  <a:pt x="0" y="88900"/>
                </a:moveTo>
                <a:arcTo wR="88900" hR="88900" stAng="10800000" swAng="5400000"/>
                <a:lnTo>
                  <a:pt x="2457450" y="0"/>
                </a:lnTo>
                <a:arcTo wR="88900" hR="88900" stAng="16200000" swAng="5400000"/>
                <a:lnTo>
                  <a:pt x="254635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C06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25850" y="1381764"/>
            <a:ext cx="423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74795" y="1401446"/>
            <a:ext cx="1486853" cy="12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4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 · ELECTRONICS / ADVANCED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4074795" y="1499239"/>
            <a:ext cx="148685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Engineering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13150" y="1864364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13150" y="1864364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C06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717290" y="1927864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CSIR-CEERI Pilani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17290" y="2078992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Electronics Engineering Research Inst. · RJ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613150" y="2299971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13150" y="2299971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C06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17290" y="2363471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CSIR-SERC Chennai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17290" y="2514600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Engineering Research Centre · TN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613150" y="2735579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13150" y="2735579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C060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717290" y="2799079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CSIR-AMPRI Bhopal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717290" y="2950214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Materials &amp; Processes Research Inst. · MP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159500" y="1280164"/>
            <a:ext cx="2546350" cy="4561840"/>
          </a:xfrm>
          <a:prstGeom prst="roundRect">
            <a:avLst>
              <a:gd name="adj" fmla="val 3491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59500" y="1280164"/>
            <a:ext cx="2546350" cy="482600"/>
          </a:xfrm>
          <a:custGeom>
            <a:avLst/>
            <a:gdLst/>
            <a:ahLst/>
            <a:cxnLst/>
            <a:rect l="l" t="t" r="r" b="b"/>
            <a:pathLst>
              <a:path w="2546350" h="482600">
                <a:moveTo>
                  <a:pt x="0" y="88900"/>
                </a:moveTo>
                <a:arcTo wR="88900" hR="88900" stAng="10800000" swAng="5400000"/>
                <a:lnTo>
                  <a:pt x="2457450" y="0"/>
                </a:lnTo>
                <a:arcTo wR="88900" hR="88900" stAng="16200000" swAng="5400000"/>
                <a:lnTo>
                  <a:pt x="254635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99200" y="1381764"/>
            <a:ext cx="423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748145" y="1401446"/>
            <a:ext cx="1441926" cy="12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4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 · BIOLOGY / LIFE SCIENCES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6748145" y="1499239"/>
            <a:ext cx="144192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Biology Labs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86500" y="1864364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286500" y="1864364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90640" y="1927864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CSIR-CCMB Hyderabad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90640" y="2078992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for Cellular &amp; Molecular Biology · TS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286500" y="2299971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286500" y="2299971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390640" y="2363471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CSIR-IGIB Delhi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90640" y="2514600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of Genomics &amp; Integrative Biology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286500" y="2735579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286500" y="2735579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390640" y="2799079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CSIR-IMTECH Chandigarh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90640" y="2950214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of Microbial Technology · Punjab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6286500" y="3171192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286500" y="3171192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90640" y="3234692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CSIR-CDRI Lucknow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90640" y="3385821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Drug Research Institute · UP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8832850" y="1280164"/>
            <a:ext cx="2546350" cy="4561840"/>
          </a:xfrm>
          <a:prstGeom prst="roundRect">
            <a:avLst>
              <a:gd name="adj" fmla="val 3491"/>
            </a:avLst>
          </a:prstGeom>
          <a:solidFill>
            <a:srgbClr val="1A30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832850" y="1280164"/>
            <a:ext cx="2546350" cy="482600"/>
          </a:xfrm>
          <a:custGeom>
            <a:avLst/>
            <a:gdLst/>
            <a:ahLst/>
            <a:cxnLst/>
            <a:rect l="l" t="t" r="r" b="b"/>
            <a:pathLst>
              <a:path w="2546350" h="482600">
                <a:moveTo>
                  <a:pt x="0" y="88900"/>
                </a:moveTo>
                <a:arcTo wR="88900" hR="88900" stAng="10800000" swAng="5400000"/>
                <a:lnTo>
                  <a:pt x="2457450" y="0"/>
                </a:lnTo>
                <a:arcTo wR="88900" hR="88900" stAng="16200000" swAng="5400000"/>
                <a:lnTo>
                  <a:pt x="2546350" y="482600"/>
                </a:lnTo>
                <a:lnTo>
                  <a:pt x="0" y="482600"/>
                </a:lnTo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972550" y="1381764"/>
            <a:ext cx="423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9421495" y="1401446"/>
            <a:ext cx="1350963" cy="12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40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· DAE INSTITUTES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9421495" y="1499239"/>
            <a:ext cx="13509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Energy Institutes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959850" y="1864364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8959850" y="1864364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9063990" y="1927864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BARC Mumbai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063990" y="2078992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Bhabha Atomic Research Centre · Maharashtra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8959850" y="2299971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8959850" y="2299971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9063990" y="2363471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IGCAR Kalpakkam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9063990" y="2514600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Indira Gandhi Centre for Atomic Research · TN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59850" y="2735579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8959850" y="2735579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9063990" y="2799079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RRCAT Indore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063990" y="2950214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Ramanna Centre for Advanced Technology · MP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959850" y="3171192"/>
            <a:ext cx="2292350" cy="384810"/>
          </a:xfrm>
          <a:prstGeom prst="roundRect">
            <a:avLst>
              <a:gd name="adj" fmla="val 9901"/>
            </a:avLst>
          </a:prstGeom>
          <a:solidFill>
            <a:srgbClr val="24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8959850" y="3171192"/>
            <a:ext cx="2292350" cy="384810"/>
          </a:xfrm>
          <a:custGeom>
            <a:avLst/>
            <a:gdLst/>
            <a:ahLst/>
            <a:cxnLst/>
            <a:rect l="l" t="t" r="r" b="b"/>
            <a:pathLst>
              <a:path w="2292350" h="384810">
                <a:moveTo>
                  <a:pt x="38100" y="384810"/>
                </a:moveTo>
                <a:lnTo>
                  <a:pt x="38100" y="38481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lnTo>
                  <a:pt x="38100" y="0"/>
                </a:lnTo>
                <a:arcTo wR="19050" hR="38100" stAng="16200000" swAng="-5400000"/>
                <a:lnTo>
                  <a:pt x="19050" y="346710"/>
                </a:lnTo>
                <a:arcTo wR="19050" hR="38100" stAng="10800000" swAng="-5400000"/>
                <a:close/>
              </a:path>
            </a:pathLst>
          </a:custGeom>
          <a:solidFill>
            <a:srgbClr val="1A7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9063990" y="3234692"/>
            <a:ext cx="2162289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NISER Bhubaneswar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9063990" y="3385821"/>
            <a:ext cx="2162289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Inst. of Science Education &amp; Research · OD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812800" y="6256021"/>
            <a:ext cx="27594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A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 · Groups 27–30 of 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0F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group submits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3403600" cy="30276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800" y="1620521"/>
            <a:ext cx="3403600" cy="528320"/>
          </a:xfrm>
          <a:custGeom>
            <a:avLst/>
            <a:gdLst/>
            <a:ahLst/>
            <a:cxnLst/>
            <a:rect l="l" t="t" r="r" b="b"/>
            <a:pathLst>
              <a:path w="3403600" h="528320">
                <a:moveTo>
                  <a:pt x="0" y="101600"/>
                </a:move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528320"/>
                </a:lnTo>
                <a:lnTo>
                  <a:pt x="0" y="528320"/>
                </a:lnTo>
                <a:close/>
              </a:path>
            </a:pathLst>
          </a:custGeom>
          <a:solidFill>
            <a:srgbClr val="D461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16000" y="1760221"/>
            <a:ext cx="308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301242"/>
            <a:ext cx="308711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A4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CSV file per group containing every paper collected (2016–2026)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6000" y="2837179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group, institution, author, title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year, type (journal / conference)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000" y="3258821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journal name, ISSN, DOI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6000" y="3469642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citations, quartile (Q1/Q2/Q3/Q4)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6000" y="3680464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conference rank (A*/A/B/C if applicable)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16000" y="3929379"/>
            <a:ext cx="2997200" cy="294640"/>
          </a:xfrm>
          <a:prstGeom prst="roundRect">
            <a:avLst>
              <a:gd name="adj" fmla="val 17241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17600" y="4005579"/>
            <a:ext cx="28778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D46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Filename: group1_data.csv (use your group number)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94200" y="1620521"/>
            <a:ext cx="3403600" cy="30276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94200" y="1620521"/>
            <a:ext cx="3403600" cy="528320"/>
          </a:xfrm>
          <a:custGeom>
            <a:avLst/>
            <a:gdLst/>
            <a:ahLst/>
            <a:cxnLst/>
            <a:rect l="l" t="t" r="r" b="b"/>
            <a:pathLst>
              <a:path w="3403600" h="528320">
                <a:moveTo>
                  <a:pt x="0" y="101600"/>
                </a:move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528320"/>
                </a:lnTo>
                <a:lnTo>
                  <a:pt x="0" y="528320"/>
                </a:lnTo>
                <a:close/>
              </a:path>
            </a:pathLst>
          </a:custGeom>
          <a:solidFill>
            <a:srgbClr val="2D7D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97400" y="1760221"/>
            <a:ext cx="308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Statistics Report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7400" y="2301242"/>
            <a:ext cx="308711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A4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report (max 10 slides or 5 pages) covering your assigned institutions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7400" y="2837179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Publication trend 2016–2026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7400" y="3048000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Q1 fraction per institution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97400" y="3258821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h-index distribution of faculty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7400" y="3469642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Top 5 journals for each institution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7400" y="3680464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Most-cited papers (top 10)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75600" y="1620521"/>
            <a:ext cx="3403600" cy="30276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75600" y="1620521"/>
            <a:ext cx="3403600" cy="528320"/>
          </a:xfrm>
          <a:custGeom>
            <a:avLst/>
            <a:gdLst/>
            <a:ahLst/>
            <a:cxnLst/>
            <a:rect l="l" t="t" r="r" b="b"/>
            <a:pathLst>
              <a:path w="3403600" h="528320">
                <a:moveTo>
                  <a:pt x="0" y="101600"/>
                </a:move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528320"/>
                </a:lnTo>
                <a:lnTo>
                  <a:pt x="0" y="528320"/>
                </a:lnTo>
                <a:close/>
              </a:path>
            </a:pathLst>
          </a:custGeom>
          <a:solidFill>
            <a:srgbClr val="27A8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178800" y="1760221"/>
            <a:ext cx="308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Own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78800" y="2301242"/>
            <a:ext cx="308711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A4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dashboard for your 2–3 institutions — built by you, shown to the class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78800" y="2837179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Publication trend chart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78800" y="3048000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Journal quartile distribution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78800" y="3258821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Faculty performance table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78800" y="3469642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Research area breakdown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78800" y="3680464"/>
            <a:ext cx="3087116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Top journals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" y="5024198"/>
            <a:ext cx="10566400" cy="889000"/>
          </a:xfrm>
          <a:prstGeom prst="roundRect">
            <a:avLst>
              <a:gd name="adj" fmla="val 10000"/>
            </a:avLst>
          </a:prstGeom>
          <a:solidFill>
            <a:srgbClr val="0F1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66800" y="5281929"/>
            <a:ext cx="59077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outputs go to the professor.</a:t>
            </a:r>
            <a:r>
              <a:rPr lang="en-US" sz="13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group-to-group sharing needed.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27281" y="5130800"/>
            <a:ext cx="965121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727281" y="5504179"/>
            <a:ext cx="965121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44802" y="5130800"/>
            <a:ext cx="130579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844802" y="5504179"/>
            <a:ext cx="1305798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Dashboard due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2800" y="6256021"/>
            <a:ext cx="137072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DPCN Course · 2026</a:t>
            </a:r>
            <a:endParaRPr lang="en-US" sz="11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BF08F48-7F02-1075-A00A-3E696D983221}"/>
              </a:ext>
            </a:extLst>
          </p:cNvPr>
          <p:cNvSpPr/>
          <p:nvPr/>
        </p:nvSpPr>
        <p:spPr>
          <a:xfrm>
            <a:off x="1117600" y="4334508"/>
            <a:ext cx="28778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with other Indian groups reflected in raw data · Citation &amp; Authorship networks added to Week 2 deliverables</a:t>
            </a:r>
          </a:p>
          <a:p>
            <a:pPr marL="0" indent="0" algn="l">
              <a:lnSpc>
                <a:spcPts val="112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Analysis should be within your assigned Institute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0F6FD986-C86F-446B-C4BE-FBBEFB0E02A5}"/>
              </a:ext>
            </a:extLst>
          </p:cNvPr>
          <p:cNvSpPr/>
          <p:nvPr/>
        </p:nvSpPr>
        <p:spPr>
          <a:xfrm>
            <a:off x="320351" y="5991498"/>
            <a:ext cx="10360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coordination required between groups.</a:t>
            </a: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works fully independently. The professor collects all dashboards and data at the end. Note: If two-three groups want to work together please inform ASAP. I encourage intergroup collaboration. </a:t>
            </a:r>
            <a:endParaRPr lang="en-US" sz="1300" b="1" dirty="0">
              <a:solidFill>
                <a:srgbClr val="FF0000"/>
              </a:solidFill>
            </a:endParaRPr>
          </a:p>
        </p:txBody>
      </p:sp>
      <p:sp>
        <p:nvSpPr>
          <p:cNvPr id="120" name="Text network1"/>
          <p:cNvSpPr/>
          <p:nvPr/>
        </p:nvSpPr>
        <p:spPr>
          <a:xfrm>
            <a:off x="1066800" y="3200000"/>
            <a:ext cx="24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✓ citation_network (edges CSV)</a:t>
            </a:r>
          </a:p>
        </p:txBody>
      </p:sp>
      <p:sp>
        <p:nvSpPr>
          <p:cNvPr id="121" name="Text network2"/>
          <p:cNvSpPr/>
          <p:nvPr/>
        </p:nvSpPr>
        <p:spPr>
          <a:xfrm>
            <a:off x="1066800" y="3390000"/>
            <a:ext cx="24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✓ authorship_network (edges CSV)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0000"/>
            <a:ext cx="10972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F1E35"/>
                </a:solidFill>
                <a:latin typeface="Georgia" pitchFamily="34" charset="0"/>
              </a:rPr>
              <a:t>Citation Networks &amp; Authorship Networks</a:t>
            </a:r>
          </a:p>
        </p:txBody>
      </p:sp>
      <p:sp>
        <p:nvSpPr>
          <p:cNvPr id="3" name="Subtitle"/>
          <p:cNvSpPr/>
          <p:nvPr/>
        </p:nvSpPr>
        <p:spPr>
          <a:xfrm>
            <a:off x="609600" y="840000"/>
            <a:ext cx="10972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0" dirty="0">
                <a:solidFill>
                  <a:srgbClr val="5A6478"/>
                </a:solidFill>
                <a:latin typeface="Arial" pitchFamily="34" charset="0"/>
              </a:rPr>
              <a:t>Task 4 — Map the knowledge graph within and across your assigned institutions</a:t>
            </a:r>
          </a:p>
        </p:txBody>
      </p:sp>
      <p:sp>
        <p:nvSpPr>
          <p:cNvPr id="4" name="DivLine"/>
          <p:cNvSpPr/>
          <p:nvPr/>
        </p:nvSpPr>
        <p:spPr>
          <a:xfrm>
            <a:off x="609600" y="1180000"/>
            <a:ext cx="10972800" cy="6000"/>
          </a:xfrm>
          <a:prstGeom prst="rect">
            <a:avLst/>
          </a:prstGeom>
          <a:solidFill>
            <a:srgbClr val="1A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Panel10"/>
          <p:cNvSpPr/>
          <p:nvPr/>
        </p:nvSpPr>
        <p:spPr>
          <a:xfrm>
            <a:off x="609600" y="1500000"/>
            <a:ext cx="5386800" cy="4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Bar11"/>
          <p:cNvSpPr/>
          <p:nvPr/>
        </p:nvSpPr>
        <p:spPr>
          <a:xfrm>
            <a:off x="609600" y="1500000"/>
            <a:ext cx="5386800" cy="220000"/>
          </a:xfrm>
          <a:prstGeom prst="rect">
            <a:avLst/>
          </a:prstGeom>
          <a:solidFill>
            <a:srgbClr val="1A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Hdr12"/>
          <p:cNvSpPr/>
          <p:nvPr/>
        </p:nvSpPr>
        <p:spPr>
          <a:xfrm>
            <a:off x="689600" y="1540000"/>
            <a:ext cx="52268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</a:rPr>
              <a:t>Citation Network</a:t>
            </a:r>
          </a:p>
        </p:txBody>
      </p:sp>
      <p:sp>
        <p:nvSpPr>
          <p:cNvPr id="13" name="Sub13"/>
          <p:cNvSpPr/>
          <p:nvPr/>
        </p:nvSpPr>
        <p:spPr>
          <a:xfrm>
            <a:off x="689600" y="1760000"/>
            <a:ext cx="52268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0" dirty="0">
                <a:solidFill>
                  <a:srgbClr val="5A6478"/>
                </a:solidFill>
                <a:latin typeface="Georgia" pitchFamily="34" charset="0"/>
              </a:rPr>
              <a:t>How knowledge flows between papers across institutions</a:t>
            </a:r>
          </a:p>
        </p:txBody>
      </p:sp>
      <p:sp>
        <p:nvSpPr>
          <p:cNvPr id="14" name="bul14"/>
          <p:cNvSpPr/>
          <p:nvPr/>
        </p:nvSpPr>
        <p:spPr>
          <a:xfrm>
            <a:off x="689600" y="215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Extract paper-cites-paper pairs from OpenAlex / Scopus</a:t>
            </a:r>
          </a:p>
        </p:txBody>
      </p:sp>
      <p:sp>
        <p:nvSpPr>
          <p:cNvPr id="15" name="bul15"/>
          <p:cNvSpPr/>
          <p:nvPr/>
        </p:nvSpPr>
        <p:spPr>
          <a:xfrm>
            <a:off x="689600" y="234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Build a directed graph: nodes = papers, edges = citations</a:t>
            </a:r>
          </a:p>
        </p:txBody>
      </p:sp>
      <p:sp>
        <p:nvSpPr>
          <p:cNvPr id="16" name="bul16"/>
          <p:cNvSpPr/>
          <p:nvPr/>
        </p:nvSpPr>
        <p:spPr>
          <a:xfrm>
            <a:off x="689600" y="253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Compute in-degree (cited-by count) per paper</a:t>
            </a:r>
          </a:p>
        </p:txBody>
      </p:sp>
      <p:sp>
        <p:nvSpPr>
          <p:cNvPr id="17" name="bul17"/>
          <p:cNvSpPr/>
          <p:nvPr/>
        </p:nvSpPr>
        <p:spPr>
          <a:xfrm>
            <a:off x="689600" y="272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Compute PageRank to find influential papers</a:t>
            </a:r>
          </a:p>
        </p:txBody>
      </p:sp>
      <p:sp>
        <p:nvSpPr>
          <p:cNvPr id="18" name="bul18"/>
          <p:cNvSpPr/>
          <p:nvPr/>
        </p:nvSpPr>
        <p:spPr>
          <a:xfrm>
            <a:off x="689600" y="291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Map citation flow into and out of your institutions</a:t>
            </a:r>
          </a:p>
        </p:txBody>
      </p:sp>
      <p:sp>
        <p:nvSpPr>
          <p:cNvPr id="19" name="bul19"/>
          <p:cNvSpPr/>
          <p:nvPr/>
        </p:nvSpPr>
        <p:spPr>
          <a:xfrm>
            <a:off x="689600" y="310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Identify papers with cross-institute citations</a:t>
            </a:r>
          </a:p>
        </p:txBody>
      </p:sp>
      <p:sp>
        <p:nvSpPr>
          <p:cNvPr id="20" name="bul20"/>
          <p:cNvSpPr/>
          <p:nvPr/>
        </p:nvSpPr>
        <p:spPr>
          <a:xfrm>
            <a:off x="689600" y="329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Export as edge list: source_doi, target_doi, year</a:t>
            </a:r>
          </a:p>
        </p:txBody>
      </p:sp>
      <p:sp>
        <p:nvSpPr>
          <p:cNvPr id="21" name="bul21"/>
          <p:cNvSpPr/>
          <p:nvPr/>
        </p:nvSpPr>
        <p:spPr>
          <a:xfrm>
            <a:off x="689600" y="348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D7DD2"/>
                </a:solidFill>
                <a:latin typeface="Arial" pitchFamily="34" charset="0"/>
              </a:rPr>
              <a:t>→ Visualise as directed network (Gephi / NetworkX / D3)</a:t>
            </a:r>
          </a:p>
        </p:txBody>
      </p:sp>
      <p:sp>
        <p:nvSpPr>
          <p:cNvPr id="22" name="Panel22"/>
          <p:cNvSpPr/>
          <p:nvPr/>
        </p:nvSpPr>
        <p:spPr>
          <a:xfrm>
            <a:off x="6196400" y="1500000"/>
            <a:ext cx="5386800" cy="4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Bar23"/>
          <p:cNvSpPr/>
          <p:nvPr/>
        </p:nvSpPr>
        <p:spPr>
          <a:xfrm>
            <a:off x="6196400" y="1500000"/>
            <a:ext cx="5386800" cy="220000"/>
          </a:xfrm>
          <a:prstGeom prst="rect">
            <a:avLst/>
          </a:prstGeom>
          <a:solidFill>
            <a:srgbClr val="1A4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Hdr24"/>
          <p:cNvSpPr/>
          <p:nvPr/>
        </p:nvSpPr>
        <p:spPr>
          <a:xfrm>
            <a:off x="6276400" y="1540000"/>
            <a:ext cx="52268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</a:rPr>
              <a:t>Authorship Network</a:t>
            </a:r>
          </a:p>
        </p:txBody>
      </p:sp>
      <p:sp>
        <p:nvSpPr>
          <p:cNvPr id="25" name="Sub25"/>
          <p:cNvSpPr/>
          <p:nvPr/>
        </p:nvSpPr>
        <p:spPr>
          <a:xfrm>
            <a:off x="6276400" y="1760000"/>
            <a:ext cx="52268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0" dirty="0">
                <a:solidFill>
                  <a:srgbClr val="5A6478"/>
                </a:solidFill>
                <a:latin typeface="Georgia" pitchFamily="34" charset="0"/>
              </a:rPr>
              <a:t>Who collaborates with whom across institutions</a:t>
            </a:r>
          </a:p>
        </p:txBody>
      </p:sp>
      <p:sp>
        <p:nvSpPr>
          <p:cNvPr id="26" name="bul26"/>
          <p:cNvSpPr/>
          <p:nvPr/>
        </p:nvSpPr>
        <p:spPr>
          <a:xfrm>
            <a:off x="6276400" y="215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Extract co-author pairs from every paper in your dataset</a:t>
            </a:r>
          </a:p>
        </p:txBody>
      </p:sp>
      <p:sp>
        <p:nvSpPr>
          <p:cNvPr id="27" name="bul27"/>
          <p:cNvSpPr/>
          <p:nvPr/>
        </p:nvSpPr>
        <p:spPr>
          <a:xfrm>
            <a:off x="6276400" y="234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Build an undirected graph: nodes = authors, edges = co-authorship</a:t>
            </a:r>
          </a:p>
        </p:txBody>
      </p:sp>
      <p:sp>
        <p:nvSpPr>
          <p:cNvPr id="28" name="bul28"/>
          <p:cNvSpPr/>
          <p:nvPr/>
        </p:nvSpPr>
        <p:spPr>
          <a:xfrm>
            <a:off x="6276400" y="253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Compute degree centrality (most collaborative faculty)</a:t>
            </a:r>
          </a:p>
        </p:txBody>
      </p:sp>
      <p:sp>
        <p:nvSpPr>
          <p:cNvPr id="29" name="bul29"/>
          <p:cNvSpPr/>
          <p:nvPr/>
        </p:nvSpPr>
        <p:spPr>
          <a:xfrm>
            <a:off x="6276400" y="272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Compute betweenness centrality (brokers between clusters)</a:t>
            </a:r>
          </a:p>
        </p:txBody>
      </p:sp>
      <p:sp>
        <p:nvSpPr>
          <p:cNvPr id="30" name="bul30"/>
          <p:cNvSpPr/>
          <p:nvPr/>
        </p:nvSpPr>
        <p:spPr>
          <a:xfrm>
            <a:off x="6276400" y="291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Apply community detection (Louvain / Leiden algorithm)</a:t>
            </a:r>
          </a:p>
        </p:txBody>
      </p:sp>
      <p:sp>
        <p:nvSpPr>
          <p:cNvPr id="31" name="bul31"/>
          <p:cNvSpPr/>
          <p:nvPr/>
        </p:nvSpPr>
        <p:spPr>
          <a:xfrm>
            <a:off x="6276400" y="310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Flag cross-institution edges — these are Indian connections</a:t>
            </a:r>
          </a:p>
        </p:txBody>
      </p:sp>
      <p:sp>
        <p:nvSpPr>
          <p:cNvPr id="32" name="bul32"/>
          <p:cNvSpPr/>
          <p:nvPr/>
        </p:nvSpPr>
        <p:spPr>
          <a:xfrm>
            <a:off x="6276400" y="329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Export as edge list: author_a, author_b, paper_doi, year</a:t>
            </a:r>
          </a:p>
        </p:txBody>
      </p:sp>
      <p:sp>
        <p:nvSpPr>
          <p:cNvPr id="33" name="bul33"/>
          <p:cNvSpPr/>
          <p:nvPr/>
        </p:nvSpPr>
        <p:spPr>
          <a:xfrm>
            <a:off x="6276400" y="3480000"/>
            <a:ext cx="52268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dirty="0">
                <a:solidFill>
                  <a:srgbClr val="27A85F"/>
                </a:solidFill>
                <a:latin typeface="Arial" pitchFamily="34" charset="0"/>
              </a:rPr>
              <a:t>→ Visualise collaboration clusters in your institution(s)</a:t>
            </a:r>
          </a:p>
        </p:txBody>
      </p:sp>
      <p:sp>
        <p:nvSpPr>
          <p:cNvPr id="98" name="WarnTxt"/>
          <p:cNvSpPr/>
          <p:nvPr/>
        </p:nvSpPr>
        <p:spPr>
          <a:xfrm>
            <a:off x="609600" y="5960000"/>
            <a:ext cx="109728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b="0" dirty="0">
                <a:solidFill>
                  <a:srgbClr val="92400E"/>
                </a:solidFill>
                <a:latin typeface="Arial" pitchFamily="34" charset="0"/>
              </a:rPr>
              <a:t>⚠  Both networks must be submitted as edge-list CSV files alongside your main dataset. See slide 12 for required columns.</a:t>
            </a:r>
          </a:p>
        </p:txBody>
      </p:sp>
      <p:sp>
        <p:nvSpPr>
          <p:cNvPr id="90" name="FooterBar"/>
          <p:cNvSpPr/>
          <p:nvPr/>
        </p:nvSpPr>
        <p:spPr>
          <a:xfrm>
            <a:off x="812800" y="6160000"/>
            <a:ext cx="10566400" cy="520000"/>
          </a:xfrm>
          <a:prstGeom prst="rect">
            <a:avLst/>
          </a:prstGeom>
          <a:solidFill>
            <a:srgbClr val="0F1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FooterTxt"/>
          <p:cNvSpPr/>
          <p:nvPr/>
        </p:nvSpPr>
        <p:spPr>
          <a:xfrm>
            <a:off x="1066800" y="62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0" dirty="0">
                <a:solidFill>
                  <a:srgbClr val="F7F8FA"/>
                </a:solidFill>
                <a:latin typeface="Arial" pitchFamily="34" charset="0"/>
              </a:rPr>
              <a:t>DPCN Course · 2026 · Task 4: Network Analysis +Dashboard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340000"/>
            <a:ext cx="10972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F1E35"/>
                </a:solidFill>
                <a:latin typeface="Georgia" pitchFamily="34" charset="0"/>
              </a:rPr>
              <a:t>Indian Connections: Citation Flow &amp; Raw Data</a:t>
            </a:r>
          </a:p>
        </p:txBody>
      </p:sp>
      <p:sp>
        <p:nvSpPr>
          <p:cNvPr id="3" name="Sub"/>
          <p:cNvSpPr/>
          <p:nvPr/>
        </p:nvSpPr>
        <p:spPr>
          <a:xfrm>
            <a:off x="609600" y="840000"/>
            <a:ext cx="109728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0" dirty="0">
                <a:solidFill>
                  <a:srgbClr val="5A6478"/>
                </a:solidFill>
                <a:latin typeface="Arial" pitchFamily="34" charset="0"/>
              </a:rPr>
              <a:t>Map how your institutions link to the rest of Indian science — through citations, co-authorship, and shared research topics</a:t>
            </a:r>
          </a:p>
        </p:txBody>
      </p:sp>
      <p:sp>
        <p:nvSpPr>
          <p:cNvPr id="4" name="Div"/>
          <p:cNvSpPr/>
          <p:nvPr/>
        </p:nvSpPr>
        <p:spPr>
          <a:xfrm>
            <a:off x="609600" y="1170000"/>
            <a:ext cx="10972800" cy="6000"/>
          </a:xfrm>
          <a:prstGeom prst="rect">
            <a:avLst/>
          </a:prstGeom>
          <a:solidFill>
            <a:srgbClr val="1A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ColBg10"/>
          <p:cNvSpPr/>
          <p:nvPr/>
        </p:nvSpPr>
        <p:spPr>
          <a:xfrm>
            <a:off x="609600" y="1500000"/>
            <a:ext cx="3657600" cy="4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olBar11"/>
          <p:cNvSpPr/>
          <p:nvPr/>
        </p:nvSpPr>
        <p:spPr>
          <a:xfrm>
            <a:off x="609600" y="1500000"/>
            <a:ext cx="3657600" cy="200000"/>
          </a:xfrm>
          <a:prstGeom prst="rect">
            <a:avLst/>
          </a:prstGeom>
          <a:solidFill>
            <a:srgbClr val="1A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ColHdr12"/>
          <p:cNvSpPr/>
          <p:nvPr/>
        </p:nvSpPr>
        <p:spPr>
          <a:xfrm>
            <a:off x="679600" y="1535000"/>
            <a:ext cx="35176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Citation Flow</a:t>
            </a:r>
          </a:p>
        </p:txBody>
      </p:sp>
      <p:sp>
        <p:nvSpPr>
          <p:cNvPr id="13" name="ColSub13"/>
          <p:cNvSpPr/>
          <p:nvPr/>
        </p:nvSpPr>
        <p:spPr>
          <a:xfrm>
            <a:off x="679600" y="1740000"/>
            <a:ext cx="351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b="0" dirty="0">
                <a:solidFill>
                  <a:srgbClr val="5A6478"/>
                </a:solidFill>
                <a:latin typeface="Georgia" pitchFamily="34" charset="0"/>
              </a:rPr>
              <a:t>How citations move between your institutes and all of India</a:t>
            </a:r>
          </a:p>
        </p:txBody>
      </p:sp>
      <p:sp>
        <p:nvSpPr>
          <p:cNvPr id="14" name="bul14"/>
          <p:cNvSpPr/>
          <p:nvPr/>
        </p:nvSpPr>
        <p:spPr>
          <a:xfrm>
            <a:off x="679600" y="209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Count citations received from other Indian institutes</a:t>
            </a:r>
          </a:p>
        </p:txBody>
      </p:sp>
      <p:sp>
        <p:nvSpPr>
          <p:cNvPr id="15" name="bul15"/>
          <p:cNvSpPr/>
          <p:nvPr/>
        </p:nvSpPr>
        <p:spPr>
          <a:xfrm>
            <a:off x="679600" y="227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Count citations given to other Indian institutes</a:t>
            </a:r>
          </a:p>
        </p:txBody>
      </p:sp>
      <p:sp>
        <p:nvSpPr>
          <p:cNvPr id="16" name="bul16"/>
          <p:cNvSpPr/>
          <p:nvPr/>
        </p:nvSpPr>
        <p:spPr>
          <a:xfrm>
            <a:off x="679600" y="246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Top 10 most-cited papers citing your institute</a:t>
            </a:r>
          </a:p>
        </p:txBody>
      </p:sp>
      <p:sp>
        <p:nvSpPr>
          <p:cNvPr id="17" name="bul17"/>
          <p:cNvSpPr/>
          <p:nvPr/>
        </p:nvSpPr>
        <p:spPr>
          <a:xfrm>
            <a:off x="679600" y="264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Top 10 Indian institutes citing your work</a:t>
            </a:r>
          </a:p>
        </p:txBody>
      </p:sp>
      <p:sp>
        <p:nvSpPr>
          <p:cNvPr id="18" name="bul18"/>
          <p:cNvSpPr/>
          <p:nvPr/>
        </p:nvSpPr>
        <p:spPr>
          <a:xfrm>
            <a:off x="679600" y="283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Year-wise citation flow graph (2016–2026)</a:t>
            </a:r>
          </a:p>
        </p:txBody>
      </p:sp>
      <p:sp>
        <p:nvSpPr>
          <p:cNvPr id="19" name="bul19"/>
          <p:cNvSpPr/>
          <p:nvPr/>
        </p:nvSpPr>
        <p:spPr>
          <a:xfrm>
            <a:off x="679600" y="301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D7DD2"/>
                </a:solidFill>
                <a:latin typeface="Arial" pitchFamily="34" charset="0"/>
              </a:rPr>
              <a:t>→ Compute citation impact: In-cites / Out-cites ratio</a:t>
            </a:r>
          </a:p>
        </p:txBody>
      </p:sp>
      <p:sp>
        <p:nvSpPr>
          <p:cNvPr id="20" name="ColBg20"/>
          <p:cNvSpPr/>
          <p:nvPr/>
        </p:nvSpPr>
        <p:spPr>
          <a:xfrm>
            <a:off x="4367200" y="1500000"/>
            <a:ext cx="3657600" cy="4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olBar21"/>
          <p:cNvSpPr/>
          <p:nvPr/>
        </p:nvSpPr>
        <p:spPr>
          <a:xfrm>
            <a:off x="4367200" y="1500000"/>
            <a:ext cx="3657600" cy="200000"/>
          </a:xfrm>
          <a:prstGeom prst="rect">
            <a:avLst/>
          </a:prstGeom>
          <a:solidFill>
            <a:srgbClr val="1A4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ColHdr22"/>
          <p:cNvSpPr/>
          <p:nvPr/>
        </p:nvSpPr>
        <p:spPr>
          <a:xfrm>
            <a:off x="4437200" y="1535000"/>
            <a:ext cx="35176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Connectivity Map</a:t>
            </a:r>
          </a:p>
        </p:txBody>
      </p:sp>
      <p:sp>
        <p:nvSpPr>
          <p:cNvPr id="23" name="ColSub23"/>
          <p:cNvSpPr/>
          <p:nvPr/>
        </p:nvSpPr>
        <p:spPr>
          <a:xfrm>
            <a:off x="4437200" y="1740000"/>
            <a:ext cx="351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b="0" dirty="0">
                <a:solidFill>
                  <a:srgbClr val="5A6478"/>
                </a:solidFill>
                <a:latin typeface="Georgia" pitchFamily="34" charset="0"/>
              </a:rPr>
              <a:t>Structural links between your institutes and the network</a:t>
            </a:r>
          </a:p>
        </p:txBody>
      </p:sp>
      <p:sp>
        <p:nvSpPr>
          <p:cNvPr id="24" name="bul24"/>
          <p:cNvSpPr/>
          <p:nvPr/>
        </p:nvSpPr>
        <p:spPr>
          <a:xfrm>
            <a:off x="4437200" y="209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List every Indian institute your faculty co-author with</a:t>
            </a:r>
          </a:p>
        </p:txBody>
      </p:sp>
      <p:sp>
        <p:nvSpPr>
          <p:cNvPr id="25" name="bul25"/>
          <p:cNvSpPr/>
          <p:nvPr/>
        </p:nvSpPr>
        <p:spPr>
          <a:xfrm>
            <a:off x="4437200" y="227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Rank partner institutes by number of shared papers</a:t>
            </a:r>
          </a:p>
        </p:txBody>
      </p:sp>
      <p:sp>
        <p:nvSpPr>
          <p:cNvPr id="26" name="bul26"/>
          <p:cNvSpPr/>
          <p:nvPr/>
        </p:nvSpPr>
        <p:spPr>
          <a:xfrm>
            <a:off x="4437200" y="246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Show co-authorship strength (number of joint papers)</a:t>
            </a:r>
          </a:p>
        </p:txBody>
      </p:sp>
      <p:sp>
        <p:nvSpPr>
          <p:cNvPr id="27" name="bul27"/>
          <p:cNvSpPr/>
          <p:nvPr/>
        </p:nvSpPr>
        <p:spPr>
          <a:xfrm>
            <a:off x="4437200" y="264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Flag cross-cluster links: IIT ↔ CSIR, IIT ↔ IISER, etc.</a:t>
            </a:r>
          </a:p>
        </p:txBody>
      </p:sp>
      <p:sp>
        <p:nvSpPr>
          <p:cNvPr id="28" name="bul28"/>
          <p:cNvSpPr/>
          <p:nvPr/>
        </p:nvSpPr>
        <p:spPr>
          <a:xfrm>
            <a:off x="4437200" y="283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Compute Jaccard similarity of research topics</a:t>
            </a:r>
          </a:p>
        </p:txBody>
      </p:sp>
      <p:sp>
        <p:nvSpPr>
          <p:cNvPr id="29" name="bul29"/>
          <p:cNvSpPr/>
          <p:nvPr/>
        </p:nvSpPr>
        <p:spPr>
          <a:xfrm>
            <a:off x="4437200" y="301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27A85F"/>
                </a:solidFill>
                <a:latin typeface="Arial" pitchFamily="34" charset="0"/>
              </a:rPr>
              <a:t>→ Identify hub authors bridging multiple institutes</a:t>
            </a:r>
          </a:p>
        </p:txBody>
      </p:sp>
      <p:sp>
        <p:nvSpPr>
          <p:cNvPr id="30" name="ColBg30"/>
          <p:cNvSpPr/>
          <p:nvPr/>
        </p:nvSpPr>
        <p:spPr>
          <a:xfrm>
            <a:off x="8124800" y="1500000"/>
            <a:ext cx="3657600" cy="4400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ColBar31"/>
          <p:cNvSpPr/>
          <p:nvPr/>
        </p:nvSpPr>
        <p:spPr>
          <a:xfrm>
            <a:off x="8124800" y="1500000"/>
            <a:ext cx="3657600" cy="200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ColHdr32"/>
          <p:cNvSpPr/>
          <p:nvPr/>
        </p:nvSpPr>
        <p:spPr>
          <a:xfrm>
            <a:off x="8194800" y="1535000"/>
            <a:ext cx="35176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Raw Data Required</a:t>
            </a:r>
          </a:p>
        </p:txBody>
      </p:sp>
      <p:sp>
        <p:nvSpPr>
          <p:cNvPr id="33" name="ColSub33"/>
          <p:cNvSpPr/>
          <p:nvPr/>
        </p:nvSpPr>
        <p:spPr>
          <a:xfrm>
            <a:off x="8194800" y="1740000"/>
            <a:ext cx="351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b="0" dirty="0">
                <a:solidFill>
                  <a:srgbClr val="5A6478"/>
                </a:solidFill>
                <a:latin typeface="Georgia" pitchFamily="34" charset="0"/>
              </a:rPr>
              <a:t>Extra columns &amp; files to submit for network analysis</a:t>
            </a:r>
          </a:p>
        </p:txBody>
      </p:sp>
      <p:sp>
        <p:nvSpPr>
          <p:cNvPr id="34" name="bul34"/>
          <p:cNvSpPr/>
          <p:nvPr/>
        </p:nvSpPr>
        <p:spPr>
          <a:xfrm>
            <a:off x="8194800" y="209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citation_network.csv — source_doi, target_doi, year</a:t>
            </a:r>
          </a:p>
        </p:txBody>
      </p:sp>
      <p:sp>
        <p:nvSpPr>
          <p:cNvPr id="35" name="bul35"/>
          <p:cNvSpPr/>
          <p:nvPr/>
        </p:nvSpPr>
        <p:spPr>
          <a:xfrm>
            <a:off x="8194800" y="227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authorship_network.csv — author_a, author_b, doi, year</a:t>
            </a:r>
          </a:p>
        </p:txBody>
      </p:sp>
      <p:sp>
        <p:nvSpPr>
          <p:cNvPr id="36" name="bul36"/>
          <p:cNvSpPr/>
          <p:nvPr/>
        </p:nvSpPr>
        <p:spPr>
          <a:xfrm>
            <a:off x="8194800" y="246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indian_connections.csv — your_inst, partner_inst, papers</a:t>
            </a:r>
          </a:p>
        </p:txBody>
      </p:sp>
      <p:sp>
        <p:nvSpPr>
          <p:cNvPr id="37" name="bul37"/>
          <p:cNvSpPr/>
          <p:nvPr/>
        </p:nvSpPr>
        <p:spPr>
          <a:xfrm>
            <a:off x="8194800" y="264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Add column coauthor_institutes to main CSV</a:t>
            </a:r>
          </a:p>
        </p:txBody>
      </p:sp>
      <p:sp>
        <p:nvSpPr>
          <p:cNvPr id="38" name="bul38"/>
          <p:cNvSpPr/>
          <p:nvPr/>
        </p:nvSpPr>
        <p:spPr>
          <a:xfrm>
            <a:off x="8194800" y="2830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Add column cites_indian_inst (boolean) to main CSV</a:t>
            </a:r>
          </a:p>
        </p:txBody>
      </p:sp>
      <p:sp>
        <p:nvSpPr>
          <p:cNvPr id="39" name="bul39"/>
          <p:cNvSpPr/>
          <p:nvPr/>
        </p:nvSpPr>
        <p:spPr>
          <a:xfrm>
            <a:off x="8194800" y="3015000"/>
            <a:ext cx="35176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60" dirty="0">
                <a:solidFill>
                  <a:srgbClr val="7C3AED"/>
                </a:solidFill>
                <a:latin typeface="Arial" pitchFamily="34" charset="0"/>
              </a:rPr>
              <a:t>→ Add column cited_by_indian_inst (boolean) to main CSV</a:t>
            </a:r>
          </a:p>
        </p:txBody>
      </p:sp>
      <p:sp>
        <p:nvSpPr>
          <p:cNvPr id="97" name="Note"/>
          <p:cNvSpPr/>
          <p:nvPr/>
        </p:nvSpPr>
        <p:spPr>
          <a:xfrm>
            <a:off x="609600" y="5960000"/>
            <a:ext cx="10972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20" b="0" dirty="0">
                <a:solidFill>
                  <a:srgbClr val="92400E"/>
                </a:solidFill>
                <a:latin typeface="Arial" pitchFamily="34" charset="0"/>
              </a:rPr>
              <a:t>⚠  Analyse citation &amp; authorship networks WITHIN your assigned institutions. Include cross-institute edges in raw data only — your statistical analysis stays within your cluster.</a:t>
            </a:r>
          </a:p>
        </p:txBody>
      </p:sp>
      <p:sp>
        <p:nvSpPr>
          <p:cNvPr id="90" name="FooterBar"/>
          <p:cNvSpPr/>
          <p:nvPr/>
        </p:nvSpPr>
        <p:spPr>
          <a:xfrm>
            <a:off x="812800" y="6160000"/>
            <a:ext cx="10566400" cy="520000"/>
          </a:xfrm>
          <a:prstGeom prst="rect">
            <a:avLst/>
          </a:prstGeom>
          <a:solidFill>
            <a:srgbClr val="0F1E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FooterTxt"/>
          <p:cNvSpPr/>
          <p:nvPr/>
        </p:nvSpPr>
        <p:spPr>
          <a:xfrm>
            <a:off x="1066800" y="6250000"/>
            <a:ext cx="10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0" dirty="0">
                <a:solidFill>
                  <a:srgbClr val="F7F8FA"/>
                </a:solidFill>
                <a:latin typeface="Arial" pitchFamily="34" charset="0"/>
              </a:rPr>
              <a:t>DPCN Course · 2026 · Indian Connectivity &amp; Citation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1962</Words>
  <Application>Microsoft Office PowerPoint</Application>
  <PresentationFormat>Widescreen</PresentationFormat>
  <Paragraphs>424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DPCN Group Assignments &amp; Independent Work Plan</dc:title>
  <dc:subject>PptxGenJS Presentation</dc:subject>
  <dc:creator>PptxGenJS</dc:creator>
  <cp:lastModifiedBy>Chittaranjan Hens</cp:lastModifiedBy>
  <cp:revision>7</cp:revision>
  <dcterms:created xsi:type="dcterms:W3CDTF">2026-09-28T07:48:15Z</dcterms:created>
  <dcterms:modified xsi:type="dcterms:W3CDTF">2026-09-29T03:58:25Z</dcterms:modified>
</cp:coreProperties>
</file>